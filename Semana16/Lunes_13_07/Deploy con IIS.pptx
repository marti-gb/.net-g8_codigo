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0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61DC-B447-445A-8EF4-6F545FBFFD5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66F1-4526-40C8-902C-3CE330714A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3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61DC-B447-445A-8EF4-6F545FBFFD5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66F1-4526-40C8-902C-3CE330714A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8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61DC-B447-445A-8EF4-6F545FBFFD5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66F1-4526-40C8-902C-3CE330714A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39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61DC-B447-445A-8EF4-6F545FBFFD5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66F1-4526-40C8-902C-3CE330714A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7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61DC-B447-445A-8EF4-6F545FBFFD5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66F1-4526-40C8-902C-3CE330714A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09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61DC-B447-445A-8EF4-6F545FBFFD5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66F1-4526-40C8-902C-3CE330714A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7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61DC-B447-445A-8EF4-6F545FBFFD5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66F1-4526-40C8-902C-3CE330714A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37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61DC-B447-445A-8EF4-6F545FBFFD5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66F1-4526-40C8-902C-3CE330714A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9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61DC-B447-445A-8EF4-6F545FBFFD5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66F1-4526-40C8-902C-3CE330714A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78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61DC-B447-445A-8EF4-6F545FBFFD5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66F1-4526-40C8-902C-3CE330714A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1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61DC-B447-445A-8EF4-6F545FBFFD5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66F1-4526-40C8-902C-3CE330714A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38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761DC-B447-445A-8EF4-6F545FBFFD5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366F1-4526-40C8-902C-3CE330714A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93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i-aplicacion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.microsoft.com/download/dotnet/6.0" TargetMode="External"/><Relationship Id="rId2" Type="http://schemas.openxmlformats.org/officeDocument/2006/relationships/hyperlink" Target="https://dotnet.microsoft.com/download/dotnet/3.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tnet.microsoft.com/download/dotnet/8.0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579024"/>
            <a:ext cx="9144000" cy="2387600"/>
          </a:xfrm>
        </p:spPr>
        <p:txBody>
          <a:bodyPr/>
          <a:lstStyle/>
          <a:p>
            <a:r>
              <a:rPr lang="es-PE" dirty="0" err="1" smtClean="0"/>
              <a:t>Deploy</a:t>
            </a:r>
            <a:r>
              <a:rPr lang="es-PE" dirty="0" smtClean="0"/>
              <a:t> con IIS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PE" sz="4000" dirty="0" smtClean="0"/>
              <a:t>Conceptos Previos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0938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 </a:t>
            </a:r>
            <a:r>
              <a:rPr lang="en-US" b="1" dirty="0" err="1" smtClean="0"/>
              <a:t>Concepto</a:t>
            </a:r>
            <a:r>
              <a:rPr lang="en-US" b="1" dirty="0" smtClean="0"/>
              <a:t> de </a:t>
            </a:r>
            <a:r>
              <a:rPr lang="en-US" b="1" dirty="0" err="1" smtClean="0"/>
              <a:t>Servidor</a:t>
            </a:r>
            <a:endParaRPr lang="en-U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 smtClean="0"/>
              <a:t>Un servidor es un programa o máquina que:</a:t>
            </a:r>
          </a:p>
          <a:p>
            <a:pPr algn="just"/>
            <a:r>
              <a:rPr lang="es-MX" b="1" dirty="0" smtClean="0"/>
              <a:t>Recibe solicitudes</a:t>
            </a:r>
            <a:r>
              <a:rPr lang="es-MX" dirty="0" smtClean="0"/>
              <a:t> de un cliente (como un navegador web).</a:t>
            </a:r>
          </a:p>
          <a:p>
            <a:pPr algn="just"/>
            <a:r>
              <a:rPr lang="es-MX" b="1" dirty="0" smtClean="0"/>
              <a:t>Procesa las solicitudes</a:t>
            </a:r>
            <a:r>
              <a:rPr lang="es-MX" dirty="0" smtClean="0"/>
              <a:t> (por ejemplo, recupera datos de una base de datos).</a:t>
            </a:r>
          </a:p>
          <a:p>
            <a:pPr algn="just"/>
            <a:r>
              <a:rPr lang="es-MX" b="1" dirty="0" smtClean="0"/>
              <a:t>Devuelve una respuesta</a:t>
            </a:r>
            <a:r>
              <a:rPr lang="es-MX" dirty="0" smtClean="0"/>
              <a:t> al cliente (como una página web o un archivo).</a:t>
            </a:r>
          </a:p>
          <a:p>
            <a:pPr algn="just"/>
            <a:r>
              <a:rPr lang="es-MX" dirty="0" smtClean="0"/>
              <a:t>En el contexto de aplicaciones web, el servidor maneja solicitudes HTTP y genera respuestas.</a:t>
            </a:r>
          </a:p>
        </p:txBody>
      </p:sp>
    </p:spTree>
    <p:extLst>
      <p:ext uri="{BB962C8B-B14F-4D97-AF65-F5344CB8AC3E}">
        <p14:creationId xmlns:p14="http://schemas.microsoft.com/office/powerpoint/2010/main" val="2457951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65045"/>
            <a:ext cx="10515600" cy="583096"/>
          </a:xfrm>
        </p:spPr>
        <p:txBody>
          <a:bodyPr>
            <a:normAutofit/>
          </a:bodyPr>
          <a:lstStyle/>
          <a:p>
            <a:r>
              <a:rPr lang="es-MX" sz="2800" b="1" dirty="0" smtClean="0"/>
              <a:t>2. </a:t>
            </a:r>
            <a:r>
              <a:rPr lang="es-MX" sz="2800" b="1" dirty="0" err="1" smtClean="0"/>
              <a:t>Kestrel</a:t>
            </a:r>
            <a:r>
              <a:rPr lang="es-MX" sz="2800" b="1" dirty="0" smtClean="0"/>
              <a:t>: El Servidor Web Integrado de ASP.NET Core</a:t>
            </a:r>
            <a:endParaRPr lang="en-US" sz="28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954158"/>
            <a:ext cx="10515600" cy="5420138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s-MX" sz="3300" b="1" dirty="0" smtClean="0"/>
              <a:t>¿Qué es </a:t>
            </a:r>
            <a:r>
              <a:rPr lang="es-MX" sz="3300" b="1" dirty="0" err="1" smtClean="0"/>
              <a:t>Kestrel</a:t>
            </a:r>
            <a:r>
              <a:rPr lang="es-MX" sz="3300" b="1" dirty="0" smtClean="0"/>
              <a:t>?</a:t>
            </a:r>
          </a:p>
          <a:p>
            <a:pPr marL="0" indent="0" algn="just">
              <a:buNone/>
            </a:pPr>
            <a:r>
              <a:rPr lang="es-MX" sz="3300" dirty="0" err="1" smtClean="0"/>
              <a:t>Kestrel</a:t>
            </a:r>
            <a:r>
              <a:rPr lang="es-MX" sz="3300" dirty="0" smtClean="0"/>
              <a:t> es un </a:t>
            </a:r>
            <a:r>
              <a:rPr lang="es-MX" sz="3300" b="1" dirty="0" smtClean="0"/>
              <a:t>servidor web multiplataforma</a:t>
            </a:r>
            <a:r>
              <a:rPr lang="es-MX" sz="3300" dirty="0" smtClean="0"/>
              <a:t> integrado en ASP.NET Core que:</a:t>
            </a:r>
          </a:p>
          <a:p>
            <a:pPr algn="just"/>
            <a:r>
              <a:rPr lang="es-MX" sz="3300" dirty="0" smtClean="0"/>
              <a:t>Es liviano, rápido y diseñado para manejar solicitudes HTTP.</a:t>
            </a:r>
          </a:p>
          <a:p>
            <a:pPr algn="just"/>
            <a:r>
              <a:rPr lang="es-MX" sz="3300" dirty="0" smtClean="0"/>
              <a:t>Actúa como el servidor principal donde se ejecutan aplicaciones ASP.NET Core.</a:t>
            </a:r>
          </a:p>
          <a:p>
            <a:pPr marL="0" indent="0" algn="just">
              <a:buNone/>
            </a:pPr>
            <a:r>
              <a:rPr lang="es-MX" sz="3300" b="1" dirty="0" smtClean="0"/>
              <a:t>¿Por qué necesitamos </a:t>
            </a:r>
            <a:r>
              <a:rPr lang="es-MX" sz="3300" b="1" dirty="0" err="1" smtClean="0"/>
              <a:t>Kestrel</a:t>
            </a:r>
            <a:r>
              <a:rPr lang="es-MX" sz="3300" b="1" dirty="0" smtClean="0"/>
              <a:t>?</a:t>
            </a:r>
          </a:p>
          <a:p>
            <a:pPr algn="just"/>
            <a:r>
              <a:rPr lang="es-MX" sz="3300" dirty="0" smtClean="0"/>
              <a:t>En ASP.NET Core, no existe una dependencia directa de IIS u otros servidores tradicionales. </a:t>
            </a:r>
            <a:r>
              <a:rPr lang="es-MX" sz="3300" dirty="0" err="1" smtClean="0"/>
              <a:t>Kestrel</a:t>
            </a:r>
            <a:r>
              <a:rPr lang="es-MX" sz="3300" dirty="0" smtClean="0"/>
              <a:t> es el encargado de:</a:t>
            </a:r>
          </a:p>
          <a:p>
            <a:pPr algn="just"/>
            <a:r>
              <a:rPr lang="es-MX" sz="3300" dirty="0" smtClean="0"/>
              <a:t>Escuchar las solicitudes HTTP directamente en un puerto.</a:t>
            </a:r>
          </a:p>
          <a:p>
            <a:pPr algn="just"/>
            <a:r>
              <a:rPr lang="es-MX" sz="3300" dirty="0" smtClean="0"/>
              <a:t>Procesar las solicitudes de la aplicación y generar respuestas.</a:t>
            </a:r>
          </a:p>
          <a:p>
            <a:pPr marL="0" indent="0" algn="just">
              <a:buNone/>
            </a:pPr>
            <a:r>
              <a:rPr lang="es-MX" sz="3300" b="1" dirty="0" smtClean="0"/>
              <a:t>Ventajas de </a:t>
            </a:r>
            <a:r>
              <a:rPr lang="es-MX" sz="3300" b="1" dirty="0" err="1" smtClean="0"/>
              <a:t>Kestrel</a:t>
            </a:r>
            <a:endParaRPr lang="es-MX" sz="3300" b="1" dirty="0" smtClean="0"/>
          </a:p>
          <a:p>
            <a:pPr algn="just"/>
            <a:r>
              <a:rPr lang="es-MX" sz="3300" b="1" dirty="0" smtClean="0"/>
              <a:t>Rendimiento rápido</a:t>
            </a:r>
            <a:r>
              <a:rPr lang="es-MX" sz="3300" dirty="0" smtClean="0"/>
              <a:t>: Diseñado para maximizar la velocidad.</a:t>
            </a:r>
          </a:p>
          <a:p>
            <a:pPr algn="just"/>
            <a:r>
              <a:rPr lang="es-MX" sz="3300" b="1" dirty="0" smtClean="0"/>
              <a:t>Multiplataforma</a:t>
            </a:r>
            <a:r>
              <a:rPr lang="es-MX" sz="3300" dirty="0" smtClean="0"/>
              <a:t>: Funciona en Windows, </a:t>
            </a:r>
            <a:r>
              <a:rPr lang="es-MX" sz="3300" dirty="0" err="1" smtClean="0"/>
              <a:t>macOS</a:t>
            </a:r>
            <a:r>
              <a:rPr lang="es-MX" sz="3300" dirty="0" smtClean="0"/>
              <a:t> y Linux.</a:t>
            </a:r>
          </a:p>
          <a:p>
            <a:pPr algn="just"/>
            <a:r>
              <a:rPr lang="es-MX" sz="3300" b="1" dirty="0" smtClean="0"/>
              <a:t>Simplicidad</a:t>
            </a:r>
            <a:r>
              <a:rPr lang="es-MX" sz="3300" dirty="0" smtClean="0"/>
              <a:t>: Configuración mínima para empezar a usarlo.</a:t>
            </a:r>
          </a:p>
          <a:p>
            <a:pPr marL="0" indent="0" algn="just">
              <a:buNone/>
            </a:pPr>
            <a:r>
              <a:rPr lang="es-MX" sz="3300" u="sng" dirty="0" smtClean="0"/>
              <a:t>Sin embargo, </a:t>
            </a:r>
            <a:r>
              <a:rPr lang="es-MX" sz="3300" b="1" u="sng" dirty="0" err="1" smtClean="0"/>
              <a:t>Kestrel</a:t>
            </a:r>
            <a:r>
              <a:rPr lang="es-MX" sz="3300" b="1" u="sng" dirty="0" smtClean="0"/>
              <a:t> no es ideal como servidor público</a:t>
            </a:r>
            <a:r>
              <a:rPr lang="es-MX" sz="3300" u="sng" dirty="0" smtClean="0"/>
              <a:t> en internet debido a:</a:t>
            </a:r>
          </a:p>
          <a:p>
            <a:pPr algn="just"/>
            <a:r>
              <a:rPr lang="es-MX" sz="3300" dirty="0" smtClean="0"/>
              <a:t>Limitaciones en la gestión de conexiones.</a:t>
            </a:r>
          </a:p>
          <a:p>
            <a:pPr algn="just"/>
            <a:r>
              <a:rPr lang="es-MX" sz="3300" dirty="0" smtClean="0"/>
              <a:t>Falta de características avanzadas como balanceo de carga o seguridad de nivel empresarial.</a:t>
            </a:r>
          </a:p>
          <a:p>
            <a:pPr marL="0" indent="0" algn="just">
              <a:buNone/>
            </a:pPr>
            <a:r>
              <a:rPr lang="es-MX" sz="3300" dirty="0" smtClean="0"/>
              <a:t>Por eso, </a:t>
            </a:r>
            <a:r>
              <a:rPr lang="es-MX" sz="3300" b="1" dirty="0" err="1" smtClean="0"/>
              <a:t>Kestrel</a:t>
            </a:r>
            <a:r>
              <a:rPr lang="es-MX" sz="3300" dirty="0" smtClean="0"/>
              <a:t> suele usarse junto con un </a:t>
            </a:r>
            <a:r>
              <a:rPr lang="es-MX" sz="3300" b="1" dirty="0" smtClean="0"/>
              <a:t>servidor frontal</a:t>
            </a:r>
            <a:r>
              <a:rPr lang="es-MX" sz="3300" dirty="0" smtClean="0"/>
              <a:t>, como </a:t>
            </a:r>
            <a:r>
              <a:rPr lang="es-MX" sz="3300" b="1" dirty="0" smtClean="0"/>
              <a:t>IIS o </a:t>
            </a:r>
            <a:r>
              <a:rPr lang="es-MX" sz="3300" b="1" dirty="0" err="1" smtClean="0"/>
              <a:t>Nginx</a:t>
            </a:r>
            <a:r>
              <a:rPr lang="es-MX" sz="3300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075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198" y="209982"/>
            <a:ext cx="10515600" cy="416753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/>
              <a:t>3. Proxy </a:t>
            </a:r>
            <a:r>
              <a:rPr lang="en-US" sz="2800" b="1" dirty="0" err="1" smtClean="0"/>
              <a:t>Inverso</a:t>
            </a:r>
            <a:endParaRPr lang="en-US" sz="28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8" y="653239"/>
            <a:ext cx="10515600" cy="23721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000" b="1" dirty="0" smtClean="0"/>
              <a:t>¿Qué es un proxy inverso?</a:t>
            </a:r>
          </a:p>
          <a:p>
            <a:r>
              <a:rPr lang="es-MX" sz="2000" dirty="0" smtClean="0"/>
              <a:t>Un </a:t>
            </a:r>
            <a:r>
              <a:rPr lang="es-MX" sz="2000" b="1" dirty="0" smtClean="0"/>
              <a:t>proxy inverso</a:t>
            </a:r>
            <a:r>
              <a:rPr lang="es-MX" sz="2000" dirty="0" smtClean="0"/>
              <a:t> es un servidor que:</a:t>
            </a:r>
          </a:p>
          <a:p>
            <a:r>
              <a:rPr lang="es-MX" sz="2000" b="1" dirty="0" smtClean="0"/>
              <a:t>Recibe solicitudes del cliente</a:t>
            </a:r>
            <a:r>
              <a:rPr lang="es-MX" sz="2000" dirty="0" smtClean="0"/>
              <a:t> (por ejemplo, desde un navegador web).</a:t>
            </a:r>
          </a:p>
          <a:p>
            <a:r>
              <a:rPr lang="es-MX" sz="2000" b="1" dirty="0" smtClean="0"/>
              <a:t>Pasa esas solicitudes al servidor </a:t>
            </a:r>
            <a:r>
              <a:rPr lang="es-MX" sz="2000" b="1" dirty="0" err="1" smtClean="0"/>
              <a:t>backend</a:t>
            </a:r>
            <a:r>
              <a:rPr lang="es-MX" sz="2000" dirty="0" smtClean="0"/>
              <a:t>, como </a:t>
            </a:r>
            <a:r>
              <a:rPr lang="es-MX" sz="2000" dirty="0" err="1" smtClean="0"/>
              <a:t>Kestrel</a:t>
            </a:r>
            <a:r>
              <a:rPr lang="es-MX" sz="2000" dirty="0" smtClean="0"/>
              <a:t>.</a:t>
            </a:r>
          </a:p>
          <a:p>
            <a:r>
              <a:rPr lang="es-MX" sz="2000" b="1" dirty="0" smtClean="0"/>
              <a:t>Devuelve al cliente la respuesta</a:t>
            </a:r>
            <a:r>
              <a:rPr lang="es-MX" sz="2000" dirty="0" smtClean="0"/>
              <a:t> procesada por el </a:t>
            </a:r>
            <a:r>
              <a:rPr lang="es-MX" sz="2000" dirty="0" err="1" smtClean="0"/>
              <a:t>backend</a:t>
            </a:r>
            <a:r>
              <a:rPr lang="es-MX" sz="2000" dirty="0" smtClean="0"/>
              <a:t>.</a:t>
            </a:r>
          </a:p>
          <a:p>
            <a:r>
              <a:rPr lang="es-MX" sz="2000" u="sng" dirty="0" smtClean="0"/>
              <a:t>En este contexto, </a:t>
            </a:r>
            <a:r>
              <a:rPr lang="es-MX" u="sng" dirty="0" smtClean="0"/>
              <a:t>IIS actúa como proxy inverso frente a </a:t>
            </a:r>
            <a:r>
              <a:rPr lang="es-MX" u="sng" dirty="0" err="1" smtClean="0"/>
              <a:t>Kestrel</a:t>
            </a:r>
            <a:r>
              <a:rPr lang="es-MX" sz="2000" u="sng" dirty="0" smtClean="0"/>
              <a:t>.</a:t>
            </a:r>
          </a:p>
        </p:txBody>
      </p:sp>
      <p:sp>
        <p:nvSpPr>
          <p:cNvPr id="4" name="Rectángulo 3"/>
          <p:cNvSpPr/>
          <p:nvPr/>
        </p:nvSpPr>
        <p:spPr>
          <a:xfrm>
            <a:off x="838198" y="2892407"/>
            <a:ext cx="83853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 smtClean="0"/>
              <a:t>¿Por qué usar un proxy inverso?</a:t>
            </a:r>
            <a:endParaRPr lang="en-US" sz="2800" b="1" dirty="0"/>
          </a:p>
        </p:txBody>
      </p:sp>
      <p:sp>
        <p:nvSpPr>
          <p:cNvPr id="5" name="Rectángulo 4"/>
          <p:cNvSpPr/>
          <p:nvPr/>
        </p:nvSpPr>
        <p:spPr>
          <a:xfrm>
            <a:off x="838198" y="3415627"/>
            <a:ext cx="1051560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s-MX" b="1" dirty="0" smtClean="0"/>
              <a:t>Seguridad</a:t>
            </a:r>
            <a:r>
              <a:rPr lang="es-MX" dirty="0" smtClean="0"/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MX" dirty="0" smtClean="0"/>
              <a:t>Protege tu servidor </a:t>
            </a:r>
            <a:r>
              <a:rPr lang="es-MX" dirty="0" err="1" smtClean="0"/>
              <a:t>backend</a:t>
            </a:r>
            <a:r>
              <a:rPr lang="es-MX" dirty="0" smtClean="0"/>
              <a:t> (</a:t>
            </a:r>
            <a:r>
              <a:rPr lang="es-MX" dirty="0" err="1" smtClean="0"/>
              <a:t>Kestrel</a:t>
            </a:r>
            <a:r>
              <a:rPr lang="es-MX" dirty="0" smtClean="0"/>
              <a:t>) al ocultarlo detrás de IIS.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MX" dirty="0" smtClean="0"/>
              <a:t>Implementa SSL/TLS para conexiones seguras (HTTPS).</a:t>
            </a:r>
          </a:p>
          <a:p>
            <a:pPr algn="just">
              <a:buFont typeface="+mj-lt"/>
              <a:buAutoNum type="arabicPeriod"/>
            </a:pPr>
            <a:r>
              <a:rPr lang="es-MX" b="1" dirty="0" smtClean="0"/>
              <a:t>Gestión de conexiones</a:t>
            </a:r>
            <a:r>
              <a:rPr lang="es-MX" dirty="0" smtClean="0"/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MX" dirty="0" smtClean="0"/>
              <a:t>IIS maneja una gran cantidad de conexiones concurrentes de manera eficiente.</a:t>
            </a:r>
          </a:p>
          <a:p>
            <a:pPr algn="just">
              <a:buFont typeface="+mj-lt"/>
              <a:buAutoNum type="arabicPeriod"/>
            </a:pPr>
            <a:r>
              <a:rPr lang="es-MX" b="1" dirty="0" smtClean="0"/>
              <a:t>Rendimiento</a:t>
            </a:r>
            <a:r>
              <a:rPr lang="es-MX" dirty="0" smtClean="0"/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MX" dirty="0" smtClean="0"/>
              <a:t>IIS puede servir archivos estáticos directamente, como imágenes o archivos JavaScript, sin pasar por </a:t>
            </a:r>
            <a:r>
              <a:rPr lang="es-MX" dirty="0" err="1" smtClean="0"/>
              <a:t>Kestrel</a:t>
            </a:r>
            <a:r>
              <a:rPr lang="es-MX" dirty="0" smtClean="0"/>
              <a:t>.</a:t>
            </a:r>
          </a:p>
          <a:p>
            <a:pPr algn="just">
              <a:buFont typeface="+mj-lt"/>
              <a:buAutoNum type="arabicPeriod"/>
            </a:pPr>
            <a:r>
              <a:rPr lang="es-MX" b="1" dirty="0" smtClean="0"/>
              <a:t>Características avanzadas</a:t>
            </a:r>
            <a:r>
              <a:rPr lang="es-MX" dirty="0" smtClean="0"/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MX" dirty="0" smtClean="0"/>
              <a:t>Autenticación integrada (Windows </a:t>
            </a:r>
            <a:r>
              <a:rPr lang="es-MX" dirty="0" err="1" smtClean="0"/>
              <a:t>Authentication</a:t>
            </a:r>
            <a:r>
              <a:rPr lang="es-MX" dirty="0" smtClean="0"/>
              <a:t>).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MX" dirty="0" smtClean="0"/>
              <a:t>Balanceo de carga y gestión de fallos.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1724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1" y="630169"/>
            <a:ext cx="10515600" cy="536023"/>
          </a:xfrm>
        </p:spPr>
        <p:txBody>
          <a:bodyPr>
            <a:normAutofit/>
          </a:bodyPr>
          <a:lstStyle/>
          <a:p>
            <a:r>
              <a:rPr lang="es-MX" sz="2800" b="1" i="1" dirty="0" smtClean="0"/>
              <a:t>Ejemplo: Flujo de una Solicitud</a:t>
            </a:r>
            <a:endParaRPr lang="en-US" sz="2800" b="1" i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1" y="1136720"/>
            <a:ext cx="10515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navegador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web)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envía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solicitud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HTTP a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hlinkClick r:id="rId2"/>
              </a:rPr>
              <a:t>https://mi-aplicacion.com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IIS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como proxy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inverso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Recibe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solicitud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puerto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443 (HTTPS).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solicitud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 backend (Kestrel) en un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puerto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(como el 5000 o 5001).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Kestrel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solicitud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la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aplicación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ASP.NET 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Devuelve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respuesta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un HTML generado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dinámicamente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IIS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envía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respuesta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23236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4. IIS: Internet Information Services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0155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b="1" dirty="0" smtClean="0"/>
              <a:t>¿</a:t>
            </a:r>
            <a:r>
              <a:rPr lang="en-US" sz="2600" b="1" dirty="0" err="1" smtClean="0"/>
              <a:t>Qué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es</a:t>
            </a:r>
            <a:r>
              <a:rPr lang="en-US" sz="2600" b="1" dirty="0" smtClean="0"/>
              <a:t> IIS?</a:t>
            </a:r>
          </a:p>
          <a:p>
            <a:r>
              <a:rPr lang="en-US" sz="2600" dirty="0" smtClean="0"/>
              <a:t>IIS </a:t>
            </a:r>
            <a:r>
              <a:rPr lang="en-US" sz="2600" dirty="0" err="1" smtClean="0"/>
              <a:t>es</a:t>
            </a:r>
            <a:r>
              <a:rPr lang="en-US" sz="2600" dirty="0" smtClean="0"/>
              <a:t> un </a:t>
            </a:r>
            <a:r>
              <a:rPr lang="en-US" sz="2600" b="1" dirty="0" err="1" smtClean="0"/>
              <a:t>servidor</a:t>
            </a:r>
            <a:r>
              <a:rPr lang="en-US" sz="2600" b="1" dirty="0" smtClean="0"/>
              <a:t> web</a:t>
            </a:r>
            <a:r>
              <a:rPr lang="en-US" sz="2600" dirty="0" smtClean="0"/>
              <a:t> </a:t>
            </a:r>
            <a:r>
              <a:rPr lang="en-US" sz="2600" dirty="0" err="1" smtClean="0"/>
              <a:t>desarrollado</a:t>
            </a:r>
            <a:r>
              <a:rPr lang="en-US" sz="2600" dirty="0" smtClean="0"/>
              <a:t> </a:t>
            </a:r>
            <a:r>
              <a:rPr lang="en-US" sz="2600" dirty="0" err="1" smtClean="0"/>
              <a:t>por</a:t>
            </a:r>
            <a:r>
              <a:rPr lang="en-US" sz="2600" dirty="0" smtClean="0"/>
              <a:t> Microsoft para </a:t>
            </a:r>
            <a:r>
              <a:rPr lang="en-US" sz="2600" dirty="0" err="1" smtClean="0"/>
              <a:t>sistemas</a:t>
            </a:r>
            <a:r>
              <a:rPr lang="en-US" sz="2600" dirty="0" smtClean="0"/>
              <a:t> </a:t>
            </a:r>
            <a:r>
              <a:rPr lang="en-US" sz="2600" dirty="0" err="1" smtClean="0"/>
              <a:t>operativos</a:t>
            </a:r>
            <a:r>
              <a:rPr lang="en-US" sz="2600" dirty="0" smtClean="0"/>
              <a:t> Windows.</a:t>
            </a:r>
          </a:p>
          <a:p>
            <a:r>
              <a:rPr lang="en-US" sz="2600" dirty="0" err="1" smtClean="0"/>
              <a:t>Maneja</a:t>
            </a:r>
            <a:r>
              <a:rPr lang="en-US" sz="2600" dirty="0" smtClean="0"/>
              <a:t> solicitudes HTTP/HTTPS.</a:t>
            </a:r>
          </a:p>
          <a:p>
            <a:r>
              <a:rPr lang="en-US" sz="2600" dirty="0" err="1" smtClean="0"/>
              <a:t>Es</a:t>
            </a:r>
            <a:r>
              <a:rPr lang="en-US" sz="2600" dirty="0" smtClean="0"/>
              <a:t> </a:t>
            </a:r>
            <a:r>
              <a:rPr lang="en-US" sz="2600" dirty="0" err="1" smtClean="0"/>
              <a:t>ampliamente</a:t>
            </a:r>
            <a:r>
              <a:rPr lang="en-US" sz="2600" dirty="0" smtClean="0"/>
              <a:t> </a:t>
            </a:r>
            <a:r>
              <a:rPr lang="en-US" sz="2600" dirty="0" err="1" smtClean="0"/>
              <a:t>usado</a:t>
            </a:r>
            <a:r>
              <a:rPr lang="en-US" sz="2600" dirty="0" smtClean="0"/>
              <a:t> para </a:t>
            </a:r>
            <a:r>
              <a:rPr lang="en-US" sz="2600" dirty="0" err="1" smtClean="0"/>
              <a:t>hospedar</a:t>
            </a:r>
            <a:r>
              <a:rPr lang="en-US" sz="2600" dirty="0" smtClean="0"/>
              <a:t> </a:t>
            </a:r>
            <a:r>
              <a:rPr lang="en-US" sz="2600" dirty="0" err="1" smtClean="0"/>
              <a:t>aplicaciones</a:t>
            </a:r>
            <a:r>
              <a:rPr lang="en-US" sz="2600" dirty="0" smtClean="0"/>
              <a:t> ASP.NET y ASP.NET Core.</a:t>
            </a:r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600" b="1" dirty="0" err="1" smtClean="0"/>
              <a:t>Despliegue</a:t>
            </a:r>
            <a:r>
              <a:rPr lang="en-US" sz="2600" b="1" dirty="0" smtClean="0"/>
              <a:t> en IIS con Hosting Bundle</a:t>
            </a:r>
          </a:p>
          <a:p>
            <a:r>
              <a:rPr lang="en-US" sz="2600" dirty="0" err="1" smtClean="0"/>
              <a:t>Cuando</a:t>
            </a:r>
            <a:r>
              <a:rPr lang="en-US" sz="2600" dirty="0" smtClean="0"/>
              <a:t> </a:t>
            </a:r>
            <a:r>
              <a:rPr lang="en-US" sz="2600" dirty="0" err="1" smtClean="0"/>
              <a:t>despliegas</a:t>
            </a:r>
            <a:r>
              <a:rPr lang="en-US" sz="2600" dirty="0" smtClean="0"/>
              <a:t> una </a:t>
            </a:r>
            <a:r>
              <a:rPr lang="en-US" sz="2600" dirty="0" err="1" smtClean="0"/>
              <a:t>aplicación</a:t>
            </a:r>
            <a:r>
              <a:rPr lang="en-US" sz="2600" dirty="0" smtClean="0"/>
              <a:t> ASP.NET Core en IIS:</a:t>
            </a:r>
          </a:p>
          <a:p>
            <a:r>
              <a:rPr lang="en-US" sz="2600" dirty="0" err="1" smtClean="0"/>
              <a:t>Instalas</a:t>
            </a:r>
            <a:r>
              <a:rPr lang="en-US" sz="2600" dirty="0" smtClean="0"/>
              <a:t> el </a:t>
            </a:r>
            <a:r>
              <a:rPr lang="en-US" sz="2600" b="1" dirty="0" smtClean="0"/>
              <a:t>Hosting Bundle</a:t>
            </a:r>
            <a:r>
              <a:rPr lang="en-US" sz="2600" dirty="0" smtClean="0"/>
              <a:t>, que </a:t>
            </a:r>
            <a:r>
              <a:rPr lang="en-US" sz="2600" dirty="0" err="1" smtClean="0"/>
              <a:t>incluye</a:t>
            </a:r>
            <a:r>
              <a:rPr lang="en-US" sz="2600" dirty="0" smtClean="0"/>
              <a:t>:</a:t>
            </a:r>
          </a:p>
          <a:p>
            <a:pPr lvl="1"/>
            <a:r>
              <a:rPr lang="en-US" sz="2600" dirty="0" smtClean="0"/>
              <a:t>ASP.NET Core Runtime.</a:t>
            </a:r>
          </a:p>
          <a:p>
            <a:pPr lvl="1"/>
            <a:r>
              <a:rPr lang="en-US" sz="2600" dirty="0" smtClean="0"/>
              <a:t>ASP.NET Core Module (ANCM), que </a:t>
            </a:r>
            <a:r>
              <a:rPr lang="en-US" sz="2600" dirty="0" err="1" smtClean="0"/>
              <a:t>permite</a:t>
            </a:r>
            <a:r>
              <a:rPr lang="en-US" sz="2600" dirty="0" smtClean="0"/>
              <a:t> que IIS </a:t>
            </a:r>
            <a:r>
              <a:rPr lang="en-US" sz="2600" dirty="0" err="1" smtClean="0"/>
              <a:t>actúe</a:t>
            </a:r>
            <a:r>
              <a:rPr lang="en-US" sz="2600" dirty="0" smtClean="0"/>
              <a:t> como proxy </a:t>
            </a:r>
            <a:r>
              <a:rPr lang="en-US" sz="2600" dirty="0" err="1" smtClean="0"/>
              <a:t>inverso</a:t>
            </a:r>
            <a:r>
              <a:rPr lang="en-US" sz="2600" dirty="0" smtClean="0"/>
              <a:t>.</a:t>
            </a:r>
          </a:p>
          <a:p>
            <a:r>
              <a:rPr lang="en-US" sz="2600" dirty="0" err="1" smtClean="0"/>
              <a:t>Configuras</a:t>
            </a:r>
            <a:r>
              <a:rPr lang="en-US" sz="2600" dirty="0" smtClean="0"/>
              <a:t> un </a:t>
            </a:r>
            <a:r>
              <a:rPr lang="en-US" sz="2600" dirty="0" err="1" smtClean="0"/>
              <a:t>sitio</a:t>
            </a:r>
            <a:r>
              <a:rPr lang="en-US" sz="2600" dirty="0" smtClean="0"/>
              <a:t> en IIS que:</a:t>
            </a:r>
          </a:p>
          <a:p>
            <a:pPr lvl="1"/>
            <a:r>
              <a:rPr lang="en-US" sz="2600" dirty="0" err="1" smtClean="0"/>
              <a:t>Escucha</a:t>
            </a:r>
            <a:r>
              <a:rPr lang="en-US" sz="2600" dirty="0" smtClean="0"/>
              <a:t> solicitudes HTTP/HTTPS en un </a:t>
            </a:r>
            <a:r>
              <a:rPr lang="en-US" sz="2600" dirty="0" err="1" smtClean="0"/>
              <a:t>puerto</a:t>
            </a:r>
            <a:r>
              <a:rPr lang="en-US" sz="2600" dirty="0" smtClean="0"/>
              <a:t> (</a:t>
            </a:r>
            <a:r>
              <a:rPr lang="en-US" sz="2600" dirty="0" err="1" smtClean="0"/>
              <a:t>por</a:t>
            </a:r>
            <a:r>
              <a:rPr lang="en-US" sz="2600" dirty="0" smtClean="0"/>
              <a:t> </a:t>
            </a:r>
            <a:r>
              <a:rPr lang="en-US" sz="2600" dirty="0" err="1" smtClean="0"/>
              <a:t>ejemplo</a:t>
            </a:r>
            <a:r>
              <a:rPr lang="en-US" sz="2600" dirty="0" smtClean="0"/>
              <a:t>, 80 o 443).</a:t>
            </a:r>
          </a:p>
          <a:p>
            <a:pPr lvl="1"/>
            <a:r>
              <a:rPr lang="en-US" sz="2600" dirty="0" err="1" smtClean="0"/>
              <a:t>Redirige</a:t>
            </a:r>
            <a:r>
              <a:rPr lang="en-US" sz="2600" dirty="0" smtClean="0"/>
              <a:t> </a:t>
            </a:r>
            <a:r>
              <a:rPr lang="en-US" sz="2600" dirty="0" err="1" smtClean="0"/>
              <a:t>esas</a:t>
            </a:r>
            <a:r>
              <a:rPr lang="en-US" sz="2600" dirty="0" smtClean="0"/>
              <a:t> solicitudes al </a:t>
            </a:r>
            <a:r>
              <a:rPr lang="en-US" sz="2600" dirty="0" err="1" smtClean="0"/>
              <a:t>servidor</a:t>
            </a:r>
            <a:r>
              <a:rPr lang="en-US" sz="2600" dirty="0" smtClean="0"/>
              <a:t> Kestrel.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750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1451" y="446572"/>
            <a:ext cx="10515600" cy="496266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5. </a:t>
            </a:r>
            <a:r>
              <a:rPr lang="en-US" sz="2800" b="1" dirty="0" err="1" smtClean="0"/>
              <a:t>Diferencias</a:t>
            </a:r>
            <a:r>
              <a:rPr lang="en-US" sz="2800" b="1" dirty="0" smtClean="0"/>
              <a:t> Entre </a:t>
            </a:r>
            <a:r>
              <a:rPr lang="en-US" sz="2800" b="1" dirty="0" err="1" smtClean="0"/>
              <a:t>Servidores</a:t>
            </a:r>
            <a:endParaRPr lang="en-US" sz="2800" b="1" dirty="0"/>
          </a:p>
        </p:txBody>
      </p:sp>
      <p:pic>
        <p:nvPicPr>
          <p:cNvPr id="38" name="Marcador de contenido 3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502" y="1046922"/>
            <a:ext cx="10165499" cy="2462938"/>
          </a:xfrm>
          <a:prstGeom prst="rect">
            <a:avLst/>
          </a:prstGeom>
        </p:spPr>
      </p:pic>
      <p:sp>
        <p:nvSpPr>
          <p:cNvPr id="39" name="Rectángulo 38"/>
          <p:cNvSpPr/>
          <p:nvPr/>
        </p:nvSpPr>
        <p:spPr>
          <a:xfrm>
            <a:off x="851451" y="3718028"/>
            <a:ext cx="10340549" cy="244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 smtClean="0"/>
              <a:t>6. Resumen de Conceptos</a:t>
            </a:r>
          </a:p>
          <a:p>
            <a:pPr algn="just"/>
            <a:endParaRPr lang="es-MX" sz="9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2400" b="1" dirty="0" err="1" smtClean="0"/>
              <a:t>Kestrel</a:t>
            </a:r>
            <a:r>
              <a:rPr lang="es-MX" sz="2400" dirty="0" smtClean="0"/>
              <a:t>: Servidor </a:t>
            </a:r>
            <a:r>
              <a:rPr lang="es-MX" sz="2400" dirty="0" err="1" smtClean="0"/>
              <a:t>backend</a:t>
            </a:r>
            <a:r>
              <a:rPr lang="es-MX" sz="2400" dirty="0" smtClean="0"/>
              <a:t> en ASP.NET Core.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2400" b="1" dirty="0" smtClean="0"/>
              <a:t>Proxy inverso</a:t>
            </a:r>
            <a:r>
              <a:rPr lang="es-MX" sz="2400" dirty="0" smtClean="0"/>
              <a:t>: IIS redirige solicitudes al </a:t>
            </a:r>
            <a:r>
              <a:rPr lang="es-MX" sz="2400" dirty="0" err="1" smtClean="0"/>
              <a:t>backend</a:t>
            </a:r>
            <a:r>
              <a:rPr lang="es-MX" sz="2400" dirty="0" smtClean="0"/>
              <a:t> para mejorar seguridad y rendimiento.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2400" b="1" dirty="0" smtClean="0"/>
              <a:t>IIS</a:t>
            </a:r>
            <a:r>
              <a:rPr lang="es-MX" sz="2400" dirty="0" smtClean="0"/>
              <a:t>: Actúa como proxy y servidor frontal para manejar conexiones y características avanzadas.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25473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5673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b="1" dirty="0" err="1" smtClean="0"/>
              <a:t>Pasos</a:t>
            </a:r>
            <a:r>
              <a:rPr lang="en-US" sz="3800" b="1" dirty="0" smtClean="0"/>
              <a:t> para </a:t>
            </a:r>
            <a:r>
              <a:rPr lang="en-US" sz="3800" b="1" dirty="0" err="1" smtClean="0"/>
              <a:t>Descargar</a:t>
            </a:r>
            <a:r>
              <a:rPr lang="en-US" sz="3800" b="1" dirty="0" smtClean="0"/>
              <a:t> los Hosting Bundles </a:t>
            </a:r>
            <a:r>
              <a:rPr lang="en-US" sz="3800" b="1" dirty="0" err="1" smtClean="0"/>
              <a:t>Necesarios</a:t>
            </a:r>
            <a:endParaRPr lang="en-US" sz="3800" b="1" dirty="0" smtClean="0"/>
          </a:p>
          <a:p>
            <a:pPr marL="0" indent="0">
              <a:buNone/>
            </a:pPr>
            <a:endParaRPr lang="en-US" sz="1600" b="1" dirty="0" smtClean="0"/>
          </a:p>
          <a:p>
            <a:pPr marL="0" indent="0">
              <a:buNone/>
            </a:pPr>
            <a:r>
              <a:rPr lang="en-US" sz="2900" b="1" dirty="0" smtClean="0"/>
              <a:t>1. .NET Core 3.1</a:t>
            </a:r>
          </a:p>
          <a:p>
            <a:r>
              <a:rPr lang="en-US" sz="2900" b="1" dirty="0" smtClean="0"/>
              <a:t>URL de </a:t>
            </a:r>
            <a:r>
              <a:rPr lang="en-US" sz="2900" b="1" dirty="0" err="1" smtClean="0"/>
              <a:t>descarga</a:t>
            </a:r>
            <a:r>
              <a:rPr lang="en-US" sz="2900" dirty="0" smtClean="0"/>
              <a:t>:</a:t>
            </a:r>
            <a:br>
              <a:rPr lang="en-US" sz="2900" dirty="0" smtClean="0"/>
            </a:br>
            <a:r>
              <a:rPr lang="en-US" sz="2900" dirty="0" err="1" smtClean="0">
                <a:hlinkClick r:id="rId2"/>
              </a:rPr>
              <a:t>Descargar</a:t>
            </a:r>
            <a:r>
              <a:rPr lang="en-US" sz="2900" dirty="0" smtClean="0">
                <a:hlinkClick r:id="rId2"/>
              </a:rPr>
              <a:t> Hosting Bundle para .NET Core 3.1</a:t>
            </a:r>
            <a:endParaRPr lang="en-US" sz="2900" dirty="0" smtClean="0"/>
          </a:p>
          <a:p>
            <a:r>
              <a:rPr lang="en-US" sz="2900" dirty="0" smtClean="0"/>
              <a:t>Una </a:t>
            </a:r>
            <a:r>
              <a:rPr lang="en-US" sz="2900" dirty="0" err="1" smtClean="0"/>
              <a:t>vez</a:t>
            </a:r>
            <a:r>
              <a:rPr lang="en-US" sz="2900" dirty="0" smtClean="0"/>
              <a:t> en la </a:t>
            </a:r>
            <a:r>
              <a:rPr lang="en-US" sz="2900" dirty="0" err="1" smtClean="0"/>
              <a:t>página</a:t>
            </a:r>
            <a:r>
              <a:rPr lang="en-US" sz="2900" dirty="0" smtClean="0"/>
              <a:t>:</a:t>
            </a:r>
          </a:p>
          <a:p>
            <a:pPr lvl="1"/>
            <a:r>
              <a:rPr lang="en-US" sz="2900" dirty="0" err="1" smtClean="0"/>
              <a:t>Busca</a:t>
            </a:r>
            <a:r>
              <a:rPr lang="en-US" sz="2900" dirty="0" smtClean="0"/>
              <a:t> la </a:t>
            </a:r>
            <a:r>
              <a:rPr lang="en-US" sz="2900" dirty="0" err="1" smtClean="0"/>
              <a:t>sección</a:t>
            </a:r>
            <a:r>
              <a:rPr lang="en-US" sz="2900" dirty="0" smtClean="0"/>
              <a:t> </a:t>
            </a:r>
            <a:r>
              <a:rPr lang="en-US" sz="2900" b="1" dirty="0" smtClean="0"/>
              <a:t>Runtime</a:t>
            </a:r>
            <a:r>
              <a:rPr lang="en-US" sz="2900" dirty="0" smtClean="0"/>
              <a:t>.</a:t>
            </a:r>
          </a:p>
          <a:p>
            <a:pPr lvl="1"/>
            <a:r>
              <a:rPr lang="en-US" sz="2900" dirty="0" err="1" smtClean="0"/>
              <a:t>Haz</a:t>
            </a:r>
            <a:r>
              <a:rPr lang="en-US" sz="2900" dirty="0" smtClean="0"/>
              <a:t> </a:t>
            </a:r>
            <a:r>
              <a:rPr lang="en-US" sz="2900" dirty="0" err="1" smtClean="0"/>
              <a:t>clic</a:t>
            </a:r>
            <a:r>
              <a:rPr lang="en-US" sz="2900" dirty="0" smtClean="0"/>
              <a:t> en el enlace del </a:t>
            </a:r>
            <a:r>
              <a:rPr lang="en-US" sz="2900" b="1" dirty="0" smtClean="0"/>
              <a:t>Hosting Bundle</a:t>
            </a:r>
            <a:r>
              <a:rPr lang="en-US" sz="2900" dirty="0" smtClean="0"/>
              <a:t> (x64).</a:t>
            </a:r>
          </a:p>
          <a:p>
            <a:pPr marL="0" indent="0">
              <a:buNone/>
            </a:pPr>
            <a:r>
              <a:rPr lang="en-US" sz="2900" b="1" dirty="0" smtClean="0"/>
              <a:t>2. .NET 6.0</a:t>
            </a:r>
          </a:p>
          <a:p>
            <a:r>
              <a:rPr lang="en-US" sz="2900" b="1" dirty="0" smtClean="0"/>
              <a:t>URL de </a:t>
            </a:r>
            <a:r>
              <a:rPr lang="en-US" sz="2900" b="1" dirty="0" err="1" smtClean="0"/>
              <a:t>descarga</a:t>
            </a:r>
            <a:r>
              <a:rPr lang="en-US" sz="2900" dirty="0" smtClean="0"/>
              <a:t>:</a:t>
            </a:r>
            <a:br>
              <a:rPr lang="en-US" sz="2900" dirty="0" smtClean="0"/>
            </a:br>
            <a:r>
              <a:rPr lang="en-US" sz="2900" dirty="0" err="1" smtClean="0">
                <a:hlinkClick r:id="rId3"/>
              </a:rPr>
              <a:t>Descargar</a:t>
            </a:r>
            <a:r>
              <a:rPr lang="en-US" sz="2900" dirty="0" smtClean="0">
                <a:hlinkClick r:id="rId3"/>
              </a:rPr>
              <a:t> Hosting Bundle para .NET 6.0</a:t>
            </a:r>
            <a:endParaRPr lang="en-US" sz="2900" dirty="0" smtClean="0"/>
          </a:p>
          <a:p>
            <a:r>
              <a:rPr lang="en-US" sz="2900" dirty="0" smtClean="0"/>
              <a:t>Una </a:t>
            </a:r>
            <a:r>
              <a:rPr lang="en-US" sz="2900" dirty="0" err="1" smtClean="0"/>
              <a:t>vez</a:t>
            </a:r>
            <a:r>
              <a:rPr lang="en-US" sz="2900" dirty="0" smtClean="0"/>
              <a:t> en la </a:t>
            </a:r>
            <a:r>
              <a:rPr lang="en-US" sz="2900" dirty="0" err="1" smtClean="0"/>
              <a:t>página</a:t>
            </a:r>
            <a:r>
              <a:rPr lang="en-US" sz="2900" dirty="0" smtClean="0"/>
              <a:t>:</a:t>
            </a:r>
          </a:p>
          <a:p>
            <a:pPr lvl="1"/>
            <a:r>
              <a:rPr lang="en-US" sz="2900" dirty="0" err="1" smtClean="0"/>
              <a:t>Busca</a:t>
            </a:r>
            <a:r>
              <a:rPr lang="en-US" sz="2900" dirty="0" smtClean="0"/>
              <a:t> la </a:t>
            </a:r>
            <a:r>
              <a:rPr lang="en-US" sz="2900" dirty="0" err="1" smtClean="0"/>
              <a:t>sección</a:t>
            </a:r>
            <a:r>
              <a:rPr lang="en-US" sz="2900" dirty="0" smtClean="0"/>
              <a:t> </a:t>
            </a:r>
            <a:r>
              <a:rPr lang="en-US" sz="2900" b="1" dirty="0" smtClean="0"/>
              <a:t>ASP.NET Core Runtime</a:t>
            </a:r>
            <a:r>
              <a:rPr lang="en-US" sz="2900" dirty="0" smtClean="0"/>
              <a:t>.</a:t>
            </a:r>
          </a:p>
          <a:p>
            <a:pPr lvl="1"/>
            <a:r>
              <a:rPr lang="en-US" sz="2900" dirty="0" err="1" smtClean="0"/>
              <a:t>Selecciona</a:t>
            </a:r>
            <a:r>
              <a:rPr lang="en-US" sz="2900" dirty="0" smtClean="0"/>
              <a:t> el </a:t>
            </a:r>
            <a:r>
              <a:rPr lang="en-US" sz="2900" b="1" dirty="0" smtClean="0"/>
              <a:t>Hosting Bundle Installer</a:t>
            </a:r>
            <a:r>
              <a:rPr lang="en-US" sz="2900" dirty="0" smtClean="0"/>
              <a:t> para </a:t>
            </a:r>
            <a:r>
              <a:rPr lang="en-US" sz="2900" dirty="0" err="1" smtClean="0"/>
              <a:t>instalar</a:t>
            </a:r>
            <a:r>
              <a:rPr lang="en-US" sz="2900" dirty="0" smtClean="0"/>
              <a:t> en IIS.</a:t>
            </a:r>
          </a:p>
          <a:p>
            <a:pPr marL="0" indent="0">
              <a:buNone/>
            </a:pPr>
            <a:r>
              <a:rPr lang="en-US" sz="2900" b="1" dirty="0" smtClean="0"/>
              <a:t>3. .NET 8.0</a:t>
            </a:r>
          </a:p>
          <a:p>
            <a:r>
              <a:rPr lang="en-US" sz="2900" b="1" dirty="0" smtClean="0"/>
              <a:t>URL de </a:t>
            </a:r>
            <a:r>
              <a:rPr lang="en-US" sz="2900" b="1" dirty="0" err="1" smtClean="0"/>
              <a:t>descarga</a:t>
            </a:r>
            <a:r>
              <a:rPr lang="en-US" sz="2900" dirty="0" smtClean="0"/>
              <a:t>:</a:t>
            </a:r>
            <a:br>
              <a:rPr lang="en-US" sz="2900" dirty="0" smtClean="0"/>
            </a:br>
            <a:r>
              <a:rPr lang="en-US" sz="2900" dirty="0" err="1" smtClean="0">
                <a:hlinkClick r:id="rId4"/>
              </a:rPr>
              <a:t>Descargar</a:t>
            </a:r>
            <a:r>
              <a:rPr lang="en-US" sz="2900" dirty="0" smtClean="0">
                <a:hlinkClick r:id="rId4"/>
              </a:rPr>
              <a:t> Hosting Bundle para .NET 8.0</a:t>
            </a:r>
            <a:endParaRPr lang="en-US" sz="2900" dirty="0" smtClean="0"/>
          </a:p>
          <a:p>
            <a:r>
              <a:rPr lang="en-US" sz="2900" dirty="0" smtClean="0"/>
              <a:t>Una </a:t>
            </a:r>
            <a:r>
              <a:rPr lang="en-US" sz="2900" dirty="0" err="1" smtClean="0"/>
              <a:t>vez</a:t>
            </a:r>
            <a:r>
              <a:rPr lang="en-US" sz="2900" dirty="0" smtClean="0"/>
              <a:t> en la </a:t>
            </a:r>
            <a:r>
              <a:rPr lang="en-US" sz="2900" dirty="0" err="1" smtClean="0"/>
              <a:t>página</a:t>
            </a:r>
            <a:r>
              <a:rPr lang="en-US" sz="2900" dirty="0" smtClean="0"/>
              <a:t>:</a:t>
            </a:r>
          </a:p>
          <a:p>
            <a:pPr lvl="1"/>
            <a:r>
              <a:rPr lang="en-US" sz="2900" dirty="0" err="1" smtClean="0"/>
              <a:t>Ve</a:t>
            </a:r>
            <a:r>
              <a:rPr lang="en-US" sz="2900" dirty="0" smtClean="0"/>
              <a:t> a la </a:t>
            </a:r>
            <a:r>
              <a:rPr lang="en-US" sz="2900" dirty="0" err="1" smtClean="0"/>
              <a:t>sección</a:t>
            </a:r>
            <a:r>
              <a:rPr lang="en-US" sz="2900" dirty="0" smtClean="0"/>
              <a:t> </a:t>
            </a:r>
            <a:r>
              <a:rPr lang="en-US" sz="2900" b="1" dirty="0" smtClean="0"/>
              <a:t>ASP.NET Core Runtime</a:t>
            </a:r>
            <a:r>
              <a:rPr lang="en-US" sz="2900" dirty="0" smtClean="0"/>
              <a:t>.</a:t>
            </a:r>
          </a:p>
          <a:p>
            <a:pPr lvl="1"/>
            <a:r>
              <a:rPr lang="en-US" sz="2900" dirty="0" err="1" smtClean="0"/>
              <a:t>Descarga</a:t>
            </a:r>
            <a:r>
              <a:rPr lang="en-US" sz="2900" dirty="0" smtClean="0"/>
              <a:t> el </a:t>
            </a:r>
            <a:r>
              <a:rPr lang="en-US" sz="2900" b="1" dirty="0" smtClean="0"/>
              <a:t>Hosting Bundle Installer</a:t>
            </a:r>
            <a:r>
              <a:rPr lang="en-US" sz="2900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312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err="1" smtClean="0"/>
              <a:t>Deploy</a:t>
            </a:r>
            <a:r>
              <a:rPr lang="es-PE" dirty="0" smtClean="0"/>
              <a:t> con IIS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66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30169"/>
            <a:ext cx="10515600" cy="602284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1. Preparación del Entorno</a:t>
            </a:r>
            <a:endParaRPr lang="en-US" sz="32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232453"/>
            <a:ext cx="10515600" cy="500932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MX" b="1" dirty="0" smtClean="0"/>
              <a:t>Requisitos previos</a:t>
            </a:r>
          </a:p>
          <a:p>
            <a:pPr algn="just"/>
            <a:r>
              <a:rPr lang="es-MX" b="1" dirty="0" smtClean="0"/>
              <a:t>Instalar IIS</a:t>
            </a:r>
            <a:r>
              <a:rPr lang="es-MX" dirty="0" smtClean="0"/>
              <a:t>:</a:t>
            </a:r>
          </a:p>
          <a:p>
            <a:pPr lvl="1" algn="just"/>
            <a:r>
              <a:rPr lang="es-MX" dirty="0" smtClean="0"/>
              <a:t>Ve a </a:t>
            </a:r>
            <a:r>
              <a:rPr lang="es-MX" b="1" dirty="0" smtClean="0"/>
              <a:t>Panel de control &gt; Programas &gt; Activar o desactivar las características de Windows</a:t>
            </a:r>
            <a:r>
              <a:rPr lang="es-MX" dirty="0" smtClean="0"/>
              <a:t>.</a:t>
            </a:r>
          </a:p>
          <a:p>
            <a:pPr lvl="1" algn="just"/>
            <a:r>
              <a:rPr lang="es-MX" dirty="0" smtClean="0"/>
              <a:t>Activa </a:t>
            </a:r>
            <a:r>
              <a:rPr lang="es-MX" b="1" dirty="0" smtClean="0"/>
              <a:t>Internet </a:t>
            </a:r>
            <a:r>
              <a:rPr lang="es-MX" b="1" dirty="0" err="1" smtClean="0"/>
              <a:t>Information</a:t>
            </a:r>
            <a:r>
              <a:rPr lang="es-MX" b="1" dirty="0" smtClean="0"/>
              <a:t> </a:t>
            </a:r>
            <a:r>
              <a:rPr lang="es-MX" b="1" dirty="0" err="1" smtClean="0"/>
              <a:t>Services</a:t>
            </a:r>
            <a:r>
              <a:rPr lang="es-MX" dirty="0" smtClean="0"/>
              <a:t> y sus características necesarias, como:</a:t>
            </a:r>
          </a:p>
          <a:p>
            <a:pPr lvl="2" algn="just"/>
            <a:r>
              <a:rPr lang="es-MX" dirty="0" smtClean="0"/>
              <a:t>Desarrollo de aplicaciones &gt; CGI.</a:t>
            </a:r>
          </a:p>
          <a:p>
            <a:pPr lvl="2" algn="just"/>
            <a:r>
              <a:rPr lang="es-MX" dirty="0" smtClean="0"/>
              <a:t>Seguridad &gt; Autenticación básica o autenticación de Windows (si la usas).</a:t>
            </a:r>
          </a:p>
          <a:p>
            <a:pPr lvl="1" algn="just"/>
            <a:r>
              <a:rPr lang="es-MX" dirty="0" smtClean="0"/>
              <a:t>Asegúrate de incluir el </a:t>
            </a:r>
            <a:r>
              <a:rPr lang="es-MX" b="1" dirty="0" smtClean="0"/>
              <a:t>Servicio de administración de IIS</a:t>
            </a:r>
            <a:r>
              <a:rPr lang="es-MX" dirty="0" smtClean="0"/>
              <a:t>.</a:t>
            </a:r>
          </a:p>
          <a:p>
            <a:pPr algn="just"/>
            <a:r>
              <a:rPr lang="es-MX" b="1" dirty="0" smtClean="0"/>
              <a:t>Instalar el Hosting </a:t>
            </a:r>
            <a:r>
              <a:rPr lang="es-MX" b="1" dirty="0" err="1" smtClean="0"/>
              <a:t>Bundle</a:t>
            </a:r>
            <a:r>
              <a:rPr lang="es-MX" dirty="0" smtClean="0"/>
              <a:t>:</a:t>
            </a:r>
          </a:p>
          <a:p>
            <a:pPr lvl="1" algn="just"/>
            <a:r>
              <a:rPr lang="es-MX" dirty="0" smtClean="0"/>
              <a:t>Descarga e instala el </a:t>
            </a:r>
            <a:r>
              <a:rPr lang="es-MX" b="1" dirty="0" smtClean="0"/>
              <a:t>Hosting </a:t>
            </a:r>
            <a:r>
              <a:rPr lang="es-MX" b="1" dirty="0" err="1" smtClean="0"/>
              <a:t>Bundle</a:t>
            </a:r>
            <a:r>
              <a:rPr lang="es-MX" dirty="0" smtClean="0"/>
              <a:t> de .NET.</a:t>
            </a:r>
          </a:p>
          <a:p>
            <a:pPr lvl="1" algn="just"/>
            <a:r>
              <a:rPr lang="es-MX" dirty="0" smtClean="0"/>
              <a:t>Esto incluye el </a:t>
            </a:r>
            <a:r>
              <a:rPr lang="es-MX" b="1" dirty="0" smtClean="0"/>
              <a:t>ASP.NET Core </a:t>
            </a:r>
            <a:r>
              <a:rPr lang="es-MX" b="1" dirty="0" err="1" smtClean="0"/>
              <a:t>Runtime</a:t>
            </a:r>
            <a:r>
              <a:rPr lang="es-MX" dirty="0" smtClean="0"/>
              <a:t> y el </a:t>
            </a:r>
            <a:r>
              <a:rPr lang="es-MX" b="1" dirty="0" smtClean="0"/>
              <a:t>ASP.NET Core Module (ANCM)</a:t>
            </a:r>
            <a:r>
              <a:rPr lang="es-MX" dirty="0" smtClean="0"/>
              <a:t>.</a:t>
            </a:r>
          </a:p>
          <a:p>
            <a:pPr algn="just"/>
            <a:r>
              <a:rPr lang="es-MX" b="1" dirty="0" smtClean="0"/>
              <a:t>Configurar IIS para usar el ASP.NET Core Module</a:t>
            </a:r>
            <a:r>
              <a:rPr lang="es-MX" dirty="0" smtClean="0"/>
              <a:t>:</a:t>
            </a:r>
          </a:p>
          <a:p>
            <a:pPr lvl="1" algn="just"/>
            <a:r>
              <a:rPr lang="es-MX" dirty="0" smtClean="0"/>
              <a:t>Durante la instalación del Hosting </a:t>
            </a:r>
            <a:r>
              <a:rPr lang="es-MX" dirty="0" err="1" smtClean="0"/>
              <a:t>Bundle</a:t>
            </a:r>
            <a:r>
              <a:rPr lang="es-MX" dirty="0" smtClean="0"/>
              <a:t>, IIS se configura automáticamente para manejar aplicaciones ASP.NET Core.</a:t>
            </a:r>
          </a:p>
        </p:txBody>
      </p:sp>
    </p:spTree>
    <p:extLst>
      <p:ext uri="{BB962C8B-B14F-4D97-AF65-F5344CB8AC3E}">
        <p14:creationId xmlns:p14="http://schemas.microsoft.com/office/powerpoint/2010/main" val="208076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3330" y="782951"/>
            <a:ext cx="1059066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Publicar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Aplicación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Desde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 Studio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Studio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Compilar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&gt;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Publicar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nuevo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perfil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publicación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Carpeta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(Folder)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Selecciona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opción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Elige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una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carpeta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destino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donde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publicará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aplicación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</a:t>
            </a:r>
            <a:r>
              <a:rPr kumimoji="0" lang="en-US" altLang="en-US" sz="2800" i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i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C:\Deploy\MiAplicacion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Haz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 los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archivos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necesarios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incluyendo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dll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web.config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etc.) en 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destino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535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5862" y="560460"/>
            <a:ext cx="10959546" cy="567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Configurar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IIS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Agregar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Sitio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en IIS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Abre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Administrador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IIS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Presiona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Win + 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escribe </a:t>
            </a:r>
            <a:r>
              <a:rPr kumimoji="0" lang="en-US" altLang="en-US" sz="1800" b="0" i="1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inetmgr</a:t>
            </a:r>
            <a:r>
              <a:rPr kumimoji="0" lang="en-US" altLang="en-US" sz="1800" b="0" i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y </a:t>
            </a:r>
            <a:r>
              <a:rPr kumimoji="0" lang="en-US" altLang="en-US" sz="1800" b="0" i="1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presiona</a:t>
            </a:r>
            <a:r>
              <a:rPr kumimoji="0" lang="en-US" altLang="en-US" sz="1800" b="0" i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Enter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nuevo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sitio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Haz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derecho en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Sitios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&gt;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Agregar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sitio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web...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campos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914400" marR="0" lvl="2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Nombre del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sitio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MiAplicacion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Ruta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física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Selecciona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carpeta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donde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publicaste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aplicación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C:\Deploy\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MiAplicacion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Puerto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Define un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puerto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como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80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para HTTP o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443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para HTTPS.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Pool de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Aplicaciones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Pools de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aplicaciones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el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Administrador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IIS.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Encuentra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pool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asociado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sitio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que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creaste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914400" marR="0" lvl="2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Versión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.NET CLR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Selecciona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administrado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(para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aplicaciones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ASP.NET Core).</a:t>
            </a:r>
          </a:p>
          <a:p>
            <a:pPr marL="914400" marR="0" lvl="2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integrado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Deja la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opción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predeterminada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permisos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Asegúrate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que el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pool de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aplicaciones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generalmente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IIS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AppPool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\&lt;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NombreDelPool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tenga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permisos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lectura y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ejecución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en la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publicación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2892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1041</Words>
  <Application>Microsoft Office PowerPoint</Application>
  <PresentationFormat>Panorámica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Arial Unicode MS</vt:lpstr>
      <vt:lpstr>Calibri</vt:lpstr>
      <vt:lpstr>Calibri Light</vt:lpstr>
      <vt:lpstr>Tema de Office</vt:lpstr>
      <vt:lpstr>Deploy con IIS</vt:lpstr>
      <vt:lpstr>1. Concepto de Servidor</vt:lpstr>
      <vt:lpstr>2. Kestrel: El Servidor Web Integrado de ASP.NET Core</vt:lpstr>
      <vt:lpstr>3. Proxy Inverso</vt:lpstr>
      <vt:lpstr>Ejemplo: Flujo de una Solicitud</vt:lpstr>
      <vt:lpstr>4. IIS: Internet Information Services</vt:lpstr>
      <vt:lpstr>5. Diferencias Entre Servidores</vt:lpstr>
      <vt:lpstr>Presentación de PowerPoint</vt:lpstr>
      <vt:lpstr>Deploy con IIS</vt:lpstr>
      <vt:lpstr>1. Preparación del Entorno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 con IIS</dc:title>
  <dc:creator>gabriel</dc:creator>
  <cp:lastModifiedBy>gabriel</cp:lastModifiedBy>
  <cp:revision>11</cp:revision>
  <dcterms:created xsi:type="dcterms:W3CDTF">2024-12-29T16:21:07Z</dcterms:created>
  <dcterms:modified xsi:type="dcterms:W3CDTF">2025-03-25T02:47:58Z</dcterms:modified>
</cp:coreProperties>
</file>