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2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3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5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2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9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5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50764-6DA2-4B7F-9552-D8EBE10737AA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A56B6-9131-4A4A-A4BA-53BFA5E1578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9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BLAZOR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6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BLAZOR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b="1" dirty="0" err="1" smtClean="0"/>
              <a:t>Blazor</a:t>
            </a:r>
            <a:r>
              <a:rPr lang="es-MX" dirty="0" smtClean="0"/>
              <a:t> es un marco de desarrollo (</a:t>
            </a:r>
            <a:r>
              <a:rPr lang="es-MX" dirty="0" err="1" smtClean="0"/>
              <a:t>framework</a:t>
            </a:r>
            <a:r>
              <a:rPr lang="es-MX" dirty="0" smtClean="0"/>
              <a:t>) en .NET que permite construir aplicaciones web interactivas usando </a:t>
            </a:r>
            <a:r>
              <a:rPr lang="es-MX" b="1" dirty="0" smtClean="0"/>
              <a:t>C#</a:t>
            </a:r>
            <a:r>
              <a:rPr lang="es-MX" dirty="0" smtClean="0"/>
              <a:t> en lugar de JavaScript. Este enfoque es innovador porque permite a los desarrolladores de .NET usar sus conocimientos y el mismo lenguaje tanto para el </a:t>
            </a:r>
            <a:r>
              <a:rPr lang="es-MX" dirty="0" err="1" smtClean="0"/>
              <a:t>backend</a:t>
            </a:r>
            <a:r>
              <a:rPr lang="es-MX" dirty="0" smtClean="0"/>
              <a:t> como para el </a:t>
            </a:r>
            <a:r>
              <a:rPr lang="es-MX" dirty="0" err="1" smtClean="0"/>
              <a:t>frontend</a:t>
            </a:r>
            <a:r>
              <a:rPr lang="es-MX" dirty="0" smtClean="0"/>
              <a:t>, creando una experiencia de desarrollo coherente en aplicaciones web modernas.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15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¿Cómo funciona </a:t>
            </a:r>
            <a:r>
              <a:rPr lang="es-MX" b="1" dirty="0" err="1" smtClean="0"/>
              <a:t>Blazor</a:t>
            </a:r>
            <a:r>
              <a:rPr lang="es-MX" b="1" dirty="0" smtClean="0"/>
              <a:t>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7517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MX" dirty="0" err="1" smtClean="0">
                <a:latin typeface="+mj-lt"/>
              </a:rPr>
              <a:t>Blazor</a:t>
            </a:r>
            <a:r>
              <a:rPr lang="es-MX" dirty="0" smtClean="0">
                <a:latin typeface="+mj-lt"/>
              </a:rPr>
              <a:t> se basa en </a:t>
            </a:r>
            <a:r>
              <a:rPr lang="es-MX" b="1" dirty="0" err="1" smtClean="0">
                <a:latin typeface="+mj-lt"/>
              </a:rPr>
              <a:t>WebAssembly</a:t>
            </a:r>
            <a:r>
              <a:rPr lang="es-MX" dirty="0" smtClean="0">
                <a:latin typeface="+mj-lt"/>
              </a:rPr>
              <a:t> y </a:t>
            </a:r>
            <a:r>
              <a:rPr lang="es-MX" b="1" dirty="0" err="1" smtClean="0">
                <a:latin typeface="+mj-lt"/>
              </a:rPr>
              <a:t>SignalR</a:t>
            </a:r>
            <a:r>
              <a:rPr lang="es-MX" dirty="0" smtClean="0">
                <a:latin typeface="+mj-lt"/>
              </a:rPr>
              <a:t> para ejecutar aplicaciones en el navegador, ofreciendo dos modalidades principales de operación:</a:t>
            </a:r>
          </a:p>
          <a:p>
            <a:pPr algn="just"/>
            <a:r>
              <a:rPr lang="es-MX" b="1" dirty="0" err="1" smtClean="0">
                <a:latin typeface="+mj-lt"/>
              </a:rPr>
              <a:t>Blazor</a:t>
            </a:r>
            <a:r>
              <a:rPr lang="es-MX" b="1" dirty="0" smtClean="0">
                <a:latin typeface="+mj-lt"/>
              </a:rPr>
              <a:t> </a:t>
            </a:r>
            <a:r>
              <a:rPr lang="es-MX" b="1" dirty="0" err="1" smtClean="0">
                <a:latin typeface="+mj-lt"/>
              </a:rPr>
              <a:t>WebAssembly</a:t>
            </a:r>
            <a:r>
              <a:rPr lang="es-MX" b="1" dirty="0" smtClean="0">
                <a:latin typeface="+mj-lt"/>
              </a:rPr>
              <a:t> (WASM)</a:t>
            </a:r>
            <a:r>
              <a:rPr lang="es-MX" dirty="0" smtClean="0">
                <a:latin typeface="+mj-lt"/>
              </a:rPr>
              <a:t> - ejecuta el código en el cliente, directamente en el navegador.</a:t>
            </a:r>
          </a:p>
          <a:p>
            <a:pPr algn="just"/>
            <a:r>
              <a:rPr lang="es-MX" b="1" dirty="0" err="1" smtClean="0">
                <a:latin typeface="+mj-lt"/>
              </a:rPr>
              <a:t>Blazor</a:t>
            </a:r>
            <a:r>
              <a:rPr lang="es-MX" b="1" dirty="0" smtClean="0">
                <a:latin typeface="+mj-lt"/>
              </a:rPr>
              <a:t> Server</a:t>
            </a:r>
            <a:r>
              <a:rPr lang="es-MX" dirty="0" smtClean="0">
                <a:latin typeface="+mj-lt"/>
              </a:rPr>
              <a:t> - ejecuta el código en el servidor y usa </a:t>
            </a:r>
            <a:r>
              <a:rPr lang="es-MX" b="1" dirty="0" err="1" smtClean="0">
                <a:latin typeface="+mj-lt"/>
              </a:rPr>
              <a:t>SignalR</a:t>
            </a:r>
            <a:r>
              <a:rPr lang="es-MX" dirty="0" smtClean="0">
                <a:latin typeface="+mj-lt"/>
              </a:rPr>
              <a:t> para comunicarse con el navegador.</a:t>
            </a:r>
          </a:p>
          <a:p>
            <a:pPr marL="0" indent="0" algn="just">
              <a:buNone/>
            </a:pPr>
            <a:endParaRPr lang="es-MX" dirty="0" smtClean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Componentes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clave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Blazor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Componentes</a:t>
            </a:r>
            <a:r>
              <a:rPr lang="en-US" altLang="en-US" dirty="0">
                <a:latin typeface="+mj-lt"/>
              </a:rPr>
              <a:t>: </a:t>
            </a:r>
            <a:r>
              <a:rPr lang="en-US" altLang="en-US" dirty="0" smtClean="0">
                <a:latin typeface="+mj-lt"/>
              </a:rPr>
              <a:t>Son </a:t>
            </a:r>
            <a:r>
              <a:rPr lang="en-US" altLang="en-US" dirty="0">
                <a:latin typeface="+mj-lt"/>
              </a:rPr>
              <a:t>las </a:t>
            </a:r>
            <a:r>
              <a:rPr lang="en-US" altLang="en-US" dirty="0" err="1">
                <a:latin typeface="+mj-lt"/>
              </a:rPr>
              <a:t>unidades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fundamentales</a:t>
            </a:r>
            <a:r>
              <a:rPr lang="en-US" altLang="en-US" dirty="0">
                <a:latin typeface="+mj-lt"/>
              </a:rPr>
              <a:t> de la </a:t>
            </a:r>
            <a:r>
              <a:rPr lang="en-US" altLang="en-US" dirty="0" err="1">
                <a:latin typeface="+mj-lt"/>
              </a:rPr>
              <a:t>interfaz</a:t>
            </a:r>
            <a:r>
              <a:rPr lang="en-US" altLang="en-US" dirty="0">
                <a:latin typeface="+mj-lt"/>
              </a:rPr>
              <a:t> de </a:t>
            </a:r>
            <a:r>
              <a:rPr lang="en-US" altLang="en-US" dirty="0" err="1">
                <a:latin typeface="+mj-lt"/>
              </a:rPr>
              <a:t>usuario</a:t>
            </a:r>
            <a:r>
              <a:rPr lang="en-US" altLang="en-US" dirty="0">
                <a:latin typeface="+mj-lt"/>
              </a:rPr>
              <a:t> en </a:t>
            </a:r>
            <a:r>
              <a:rPr lang="en-US" altLang="en-US" dirty="0" err="1">
                <a:latin typeface="+mj-lt"/>
              </a:rPr>
              <a:t>Blazor</a:t>
            </a:r>
            <a:r>
              <a:rPr lang="en-US" altLang="en-US" dirty="0">
                <a:latin typeface="+mj-lt"/>
              </a:rPr>
              <a:t>. </a:t>
            </a:r>
            <a:r>
              <a:rPr lang="en-US" altLang="en-US" dirty="0" err="1">
                <a:latin typeface="+mj-lt"/>
              </a:rPr>
              <a:t>Cada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componente</a:t>
            </a:r>
            <a:r>
              <a:rPr lang="en-US" altLang="en-US" dirty="0">
                <a:latin typeface="+mj-lt"/>
              </a:rPr>
              <a:t> se define como un </a:t>
            </a:r>
            <a:r>
              <a:rPr lang="en-US" altLang="en-US" dirty="0" err="1">
                <a:latin typeface="+mj-lt"/>
              </a:rPr>
              <a:t>archivo</a:t>
            </a:r>
            <a:r>
              <a:rPr lang="en-US" altLang="en-US" dirty="0"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.razor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contiene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diseño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(HTML) y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lógica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(C#).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componentes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pueden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reutilizar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anidar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y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enlazar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lang="en-US" altLang="en-US" dirty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Data binding</a:t>
            </a:r>
            <a:r>
              <a:rPr lang="en-US" altLang="en-US" dirty="0">
                <a:latin typeface="+mj-lt"/>
              </a:rPr>
              <a:t>: </a:t>
            </a:r>
            <a:r>
              <a:rPr lang="en-US" altLang="en-US" dirty="0" err="1">
                <a:latin typeface="+mj-lt"/>
              </a:rPr>
              <a:t>Blazor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permite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enlazar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datos</a:t>
            </a:r>
            <a:r>
              <a:rPr lang="en-US" altLang="en-US" dirty="0">
                <a:latin typeface="+mj-lt"/>
              </a:rPr>
              <a:t> entre el </a:t>
            </a:r>
            <a:r>
              <a:rPr lang="en-US" altLang="en-US" dirty="0" err="1">
                <a:latin typeface="+mj-lt"/>
              </a:rPr>
              <a:t>modelo</a:t>
            </a:r>
            <a:r>
              <a:rPr lang="en-US" altLang="en-US" dirty="0">
                <a:latin typeface="+mj-lt"/>
              </a:rPr>
              <a:t> y el </a:t>
            </a:r>
            <a:r>
              <a:rPr lang="en-US" altLang="en-US" dirty="0" err="1">
                <a:latin typeface="+mj-lt"/>
              </a:rPr>
              <a:t>componente</a:t>
            </a:r>
            <a:r>
              <a:rPr lang="en-US" altLang="en-US" dirty="0">
                <a:latin typeface="+mj-lt"/>
              </a:rPr>
              <a:t>, con </a:t>
            </a:r>
            <a:r>
              <a:rPr lang="en-US" altLang="en-US" dirty="0" err="1">
                <a:latin typeface="+mj-lt"/>
              </a:rPr>
              <a:t>soporte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tanto</a:t>
            </a:r>
            <a:r>
              <a:rPr lang="en-US" altLang="en-US" dirty="0">
                <a:latin typeface="+mj-lt"/>
              </a:rPr>
              <a:t> para binding </a:t>
            </a:r>
            <a:r>
              <a:rPr lang="en-US" altLang="en-US" dirty="0" err="1">
                <a:latin typeface="+mj-lt"/>
              </a:rPr>
              <a:t>unidireccional</a:t>
            </a:r>
            <a:r>
              <a:rPr lang="en-US" altLang="en-US" dirty="0">
                <a:latin typeface="+mj-lt"/>
              </a:rPr>
              <a:t> como </a:t>
            </a:r>
            <a:r>
              <a:rPr lang="en-US" altLang="en-US" dirty="0" err="1">
                <a:latin typeface="+mj-lt"/>
              </a:rPr>
              <a:t>bidireccional</a:t>
            </a:r>
            <a:r>
              <a:rPr lang="en-US" altLang="en-US" dirty="0">
                <a:latin typeface="+mj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Razor syntax</a:t>
            </a:r>
            <a:r>
              <a:rPr lang="en-US" altLang="en-US" dirty="0">
                <a:latin typeface="+mj-lt"/>
              </a:rPr>
              <a:t>: </a:t>
            </a:r>
            <a:r>
              <a:rPr lang="en-US" altLang="en-US" dirty="0" err="1">
                <a:latin typeface="+mj-lt"/>
              </a:rPr>
              <a:t>Blazor</a:t>
            </a:r>
            <a:r>
              <a:rPr lang="en-US" altLang="en-US" dirty="0">
                <a:latin typeface="+mj-lt"/>
              </a:rPr>
              <a:t> usa la </a:t>
            </a:r>
            <a:r>
              <a:rPr lang="en-US" altLang="en-US" dirty="0" err="1">
                <a:latin typeface="+mj-lt"/>
              </a:rPr>
              <a:t>sintaxis</a:t>
            </a:r>
            <a:r>
              <a:rPr lang="en-US" altLang="en-US" dirty="0">
                <a:latin typeface="+mj-lt"/>
              </a:rPr>
              <a:t> de Razor para </a:t>
            </a:r>
            <a:r>
              <a:rPr lang="en-US" altLang="en-US" dirty="0" err="1">
                <a:latin typeface="+mj-lt"/>
              </a:rPr>
              <a:t>mezclar</a:t>
            </a:r>
            <a:r>
              <a:rPr lang="en-US" altLang="en-US" dirty="0">
                <a:latin typeface="+mj-lt"/>
              </a:rPr>
              <a:t> C# con HTML, </a:t>
            </a:r>
            <a:r>
              <a:rPr lang="en-US" altLang="en-US" dirty="0" err="1">
                <a:latin typeface="+mj-lt"/>
              </a:rPr>
              <a:t>permitiendo</a:t>
            </a:r>
            <a:r>
              <a:rPr lang="en-US" altLang="en-US" dirty="0">
                <a:latin typeface="+mj-lt"/>
              </a:rPr>
              <a:t> que el código y la </a:t>
            </a:r>
            <a:r>
              <a:rPr lang="en-US" altLang="en-US" dirty="0" err="1">
                <a:latin typeface="+mj-lt"/>
              </a:rPr>
              <a:t>lógica</a:t>
            </a:r>
            <a:r>
              <a:rPr lang="en-US" altLang="en-US" dirty="0">
                <a:latin typeface="+mj-lt"/>
              </a:rPr>
              <a:t> se </a:t>
            </a:r>
            <a:r>
              <a:rPr lang="en-US" altLang="en-US" dirty="0" err="1">
                <a:latin typeface="+mj-lt"/>
              </a:rPr>
              <a:t>integren</a:t>
            </a:r>
            <a:r>
              <a:rPr lang="en-US" altLang="en-US" dirty="0">
                <a:latin typeface="+mj-lt"/>
              </a:rPr>
              <a:t> de </a:t>
            </a:r>
            <a:r>
              <a:rPr lang="en-US" altLang="en-US" dirty="0" err="1">
                <a:latin typeface="+mj-lt"/>
              </a:rPr>
              <a:t>manera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fluida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en</a:t>
            </a:r>
            <a:r>
              <a:rPr lang="en-US" altLang="en-US" dirty="0">
                <a:latin typeface="+mj-lt"/>
              </a:rPr>
              <a:t> las vistas.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73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24070"/>
            <a:ext cx="10704443" cy="1789043"/>
          </a:xfrm>
        </p:spPr>
        <p:txBody>
          <a:bodyPr>
            <a:normAutofit/>
          </a:bodyPr>
          <a:lstStyle/>
          <a:p>
            <a:pPr lvl="0"/>
            <a:r>
              <a:rPr lang="es-MX" sz="2800" b="1" dirty="0"/>
              <a:t>¿Cómo se estructura un componente en </a:t>
            </a:r>
            <a:r>
              <a:rPr lang="es-MX" sz="2800" b="1" dirty="0" err="1"/>
              <a:t>Blazor</a:t>
            </a:r>
            <a:r>
              <a:rPr lang="es-MX" sz="2800" b="1" dirty="0" smtClean="0"/>
              <a:t>?</a:t>
            </a:r>
            <a:r>
              <a:rPr lang="es-MX" sz="2200" b="1" dirty="0" smtClean="0"/>
              <a:t/>
            </a:r>
            <a:br>
              <a:rPr lang="es-MX" sz="2200" b="1" dirty="0" smtClean="0"/>
            </a:br>
            <a:r>
              <a:rPr lang="en-US" altLang="en-US" sz="2200" dirty="0"/>
              <a:t>En </a:t>
            </a:r>
            <a:r>
              <a:rPr lang="en-US" altLang="en-US" sz="2200" dirty="0" err="1"/>
              <a:t>Blazor</a:t>
            </a:r>
            <a:r>
              <a:rPr lang="en-US" altLang="en-US" sz="2200" dirty="0"/>
              <a:t>, un </a:t>
            </a:r>
            <a:r>
              <a:rPr lang="en-US" altLang="en-US" sz="2200" b="1" dirty="0" err="1"/>
              <a:t>componente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es</a:t>
            </a:r>
            <a:r>
              <a:rPr lang="en-US" altLang="en-US" sz="2200" dirty="0"/>
              <a:t> una </a:t>
            </a:r>
            <a:r>
              <a:rPr lang="en-US" altLang="en-US" sz="2200" dirty="0" err="1"/>
              <a:t>unidad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reutilizable</a:t>
            </a:r>
            <a:r>
              <a:rPr lang="en-US" altLang="en-US" sz="2200" dirty="0"/>
              <a:t> de UI que </a:t>
            </a:r>
            <a:r>
              <a:rPr lang="en-US" altLang="en-US" sz="2200" dirty="0" err="1"/>
              <a:t>puede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contener</a:t>
            </a:r>
            <a:r>
              <a:rPr lang="en-US" altLang="en-US" sz="2200" dirty="0"/>
              <a:t> </a:t>
            </a:r>
            <a:r>
              <a:rPr lang="en-US" altLang="en-US" sz="2200" b="1" dirty="0"/>
              <a:t>HTML, C# y Razor</a:t>
            </a:r>
            <a:r>
              <a:rPr lang="en-US" altLang="en-US" sz="2200" dirty="0"/>
              <a:t>. Los componentes en </a:t>
            </a:r>
            <a:r>
              <a:rPr lang="en-US" altLang="en-US" sz="2200" dirty="0" err="1"/>
              <a:t>Blazor</a:t>
            </a:r>
            <a:r>
              <a:rPr lang="en-US" altLang="en-US" sz="2200" dirty="0"/>
              <a:t> son </a:t>
            </a:r>
            <a:r>
              <a:rPr lang="en-US" altLang="en-US" sz="2200" dirty="0" err="1"/>
              <a:t>similares</a:t>
            </a:r>
            <a:r>
              <a:rPr lang="en-US" altLang="en-US" sz="2200" dirty="0"/>
              <a:t> a los componentes en </a:t>
            </a:r>
            <a:r>
              <a:rPr lang="en-US" altLang="en-US" sz="2200" b="1" dirty="0"/>
              <a:t>React, Angular o </a:t>
            </a:r>
            <a:r>
              <a:rPr lang="en-US" altLang="en-US" sz="2200" b="1" dirty="0" err="1"/>
              <a:t>Vue</a:t>
            </a:r>
            <a:r>
              <a:rPr lang="en-US" altLang="en-US" sz="2200" dirty="0"/>
              <a:t>, y se </a:t>
            </a:r>
            <a:r>
              <a:rPr lang="en-US" altLang="en-US" sz="2200" dirty="0" err="1"/>
              <a:t>representan</a:t>
            </a:r>
            <a:r>
              <a:rPr lang="en-US" altLang="en-US" sz="2200" dirty="0"/>
              <a:t> como </a:t>
            </a:r>
            <a:r>
              <a:rPr lang="en-US" altLang="en-US" sz="2200" dirty="0" err="1"/>
              <a:t>archivos</a:t>
            </a:r>
            <a:r>
              <a:rPr lang="en-US" altLang="en-US" sz="2200" dirty="0"/>
              <a:t> </a:t>
            </a:r>
            <a:r>
              <a:rPr lang="en-US" altLang="en-US" sz="2200" b="1" dirty="0"/>
              <a:t>.razor</a:t>
            </a:r>
            <a:r>
              <a:rPr lang="en-US" altLang="en-US" sz="2200" dirty="0"/>
              <a:t>. </a:t>
            </a:r>
            <a:endParaRPr lang="en-US" sz="22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27583"/>
            <a:ext cx="10515600" cy="15637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dirty="0"/>
              <a:t>Un componente típico en </a:t>
            </a:r>
            <a:r>
              <a:rPr lang="es-MX" sz="2000" dirty="0" err="1"/>
              <a:t>Blazor</a:t>
            </a:r>
            <a:r>
              <a:rPr lang="es-MX" sz="2000" dirty="0"/>
              <a:t> tiene tres partes:</a:t>
            </a:r>
          </a:p>
          <a:p>
            <a:r>
              <a:rPr lang="es-MX" sz="2000" b="1" dirty="0"/>
              <a:t>HTML</a:t>
            </a:r>
            <a:r>
              <a:rPr lang="es-MX" sz="2000" dirty="0"/>
              <a:t>: Define la estructura de la interfaz.</a:t>
            </a:r>
          </a:p>
          <a:p>
            <a:r>
              <a:rPr lang="es-MX" sz="2000" b="1" dirty="0"/>
              <a:t>C#</a:t>
            </a:r>
            <a:r>
              <a:rPr lang="es-MX" sz="2000" dirty="0"/>
              <a:t>: Maneja la lógica del componente.</a:t>
            </a:r>
          </a:p>
          <a:p>
            <a:r>
              <a:rPr lang="es-MX" sz="2000" b="1" dirty="0"/>
              <a:t>Directivas </a:t>
            </a:r>
            <a:r>
              <a:rPr lang="es-MX" sz="2000" b="1" dirty="0" err="1"/>
              <a:t>Razor</a:t>
            </a:r>
            <a:r>
              <a:rPr lang="es-MX" sz="2000" dirty="0"/>
              <a:t>: Permiten integrar código C# en la vista</a:t>
            </a:r>
            <a:r>
              <a:rPr lang="es-MX" sz="2000" dirty="0" smtClean="0"/>
              <a:t>.</a:t>
            </a:r>
            <a:endParaRPr lang="es-MX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703018"/>
            <a:ext cx="5813823" cy="3002582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6939589" y="3715839"/>
            <a:ext cx="46030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Aquí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en-US" altLang="en-US" b="1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contador</a:t>
            </a: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muestra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valor de la variable.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El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botón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tiene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onclick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ejecuta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método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Incrementar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Cuando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UI 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automáticamente.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939589" y="5470166"/>
            <a:ext cx="46030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Los </a:t>
            </a:r>
            <a:r>
              <a:rPr lang="es-MX" b="1" dirty="0"/>
              <a:t>componentes en </a:t>
            </a:r>
            <a:r>
              <a:rPr lang="es-MX" b="1" dirty="0" err="1"/>
              <a:t>Blazor</a:t>
            </a:r>
            <a:r>
              <a:rPr lang="es-MX" dirty="0"/>
              <a:t> permiten crear aplicaciones modulares y reutilizables, con soporte para parámetros, eventos y comunicación entre componentes.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0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2252"/>
            <a:ext cx="10515600" cy="1325563"/>
          </a:xfrm>
        </p:spPr>
        <p:txBody>
          <a:bodyPr/>
          <a:lstStyle/>
          <a:p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aplicaciones</a:t>
            </a:r>
            <a:r>
              <a:rPr lang="en-US" dirty="0" smtClean="0"/>
              <a:t> </a:t>
            </a:r>
            <a:r>
              <a:rPr lang="en-US" dirty="0" err="1" smtClean="0"/>
              <a:t>Blazor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67815"/>
            <a:ext cx="10515600" cy="484021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MX" b="1" dirty="0" smtClean="0"/>
              <a:t>1. </a:t>
            </a:r>
            <a:r>
              <a:rPr lang="es-MX" b="1" dirty="0" err="1" smtClean="0"/>
              <a:t>Blazor</a:t>
            </a:r>
            <a:r>
              <a:rPr lang="es-MX" b="1" dirty="0" smtClean="0"/>
              <a:t> </a:t>
            </a:r>
            <a:r>
              <a:rPr lang="es-MX" b="1" dirty="0" err="1" smtClean="0"/>
              <a:t>WebAssembly</a:t>
            </a:r>
            <a:endParaRPr lang="es-MX" b="1" dirty="0" smtClean="0"/>
          </a:p>
          <a:p>
            <a:pPr algn="just"/>
            <a:r>
              <a:rPr lang="es-MX" dirty="0" smtClean="0"/>
              <a:t>En </a:t>
            </a:r>
            <a:r>
              <a:rPr lang="es-MX" b="1" dirty="0" err="1" smtClean="0"/>
              <a:t>Blazor</a:t>
            </a:r>
            <a:r>
              <a:rPr lang="es-MX" b="1" dirty="0" smtClean="0"/>
              <a:t> </a:t>
            </a:r>
            <a:r>
              <a:rPr lang="es-MX" b="1" dirty="0" err="1" smtClean="0"/>
              <a:t>WebAssembly</a:t>
            </a:r>
            <a:r>
              <a:rPr lang="es-MX" b="1" dirty="0" smtClean="0"/>
              <a:t> (WASM)</a:t>
            </a:r>
            <a:r>
              <a:rPr lang="es-MX" dirty="0" smtClean="0"/>
              <a:t>, la aplicación </a:t>
            </a:r>
            <a:r>
              <a:rPr lang="es-MX" dirty="0" err="1" smtClean="0"/>
              <a:t>Blazor</a:t>
            </a:r>
            <a:r>
              <a:rPr lang="es-MX" dirty="0" smtClean="0"/>
              <a:t> se ejecuta completamente en el navegador del usuario. Funciona de la siguiente manera:</a:t>
            </a:r>
          </a:p>
          <a:p>
            <a:pPr algn="just"/>
            <a:r>
              <a:rPr lang="es-MX" b="1" dirty="0" smtClean="0"/>
              <a:t>Compilación a </a:t>
            </a:r>
            <a:r>
              <a:rPr lang="es-MX" b="1" dirty="0" err="1" smtClean="0"/>
              <a:t>WebAssembly</a:t>
            </a:r>
            <a:r>
              <a:rPr lang="es-MX" dirty="0" smtClean="0"/>
              <a:t>: La aplicación </a:t>
            </a:r>
            <a:r>
              <a:rPr lang="es-MX" dirty="0" err="1" smtClean="0"/>
              <a:t>Blazor</a:t>
            </a:r>
            <a:r>
              <a:rPr lang="es-MX" dirty="0" smtClean="0"/>
              <a:t> y las bibliotecas .NET necesarias se compilan en </a:t>
            </a:r>
            <a:r>
              <a:rPr lang="es-MX" dirty="0" err="1" smtClean="0"/>
              <a:t>WebAssembly</a:t>
            </a:r>
            <a:r>
              <a:rPr lang="es-MX" dirty="0" smtClean="0"/>
              <a:t>, un formato binario optimizado para navegadores, y se descargan junto con la aplicación.</a:t>
            </a:r>
          </a:p>
          <a:p>
            <a:pPr algn="just"/>
            <a:r>
              <a:rPr lang="es-MX" b="1" dirty="0" smtClean="0"/>
              <a:t>Ejecución en el cliente</a:t>
            </a:r>
            <a:r>
              <a:rPr lang="es-MX" dirty="0" smtClean="0"/>
              <a:t>: Todo el código .NET (lógica de la aplicación) se ejecuta en el navegador, en lugar de en el servidor. Esto significa que </a:t>
            </a:r>
            <a:r>
              <a:rPr lang="es-MX" b="1" dirty="0" err="1" smtClean="0"/>
              <a:t>Blazor</a:t>
            </a:r>
            <a:r>
              <a:rPr lang="es-MX" b="1" dirty="0" smtClean="0"/>
              <a:t> </a:t>
            </a:r>
            <a:r>
              <a:rPr lang="es-MX" b="1" dirty="0" err="1" smtClean="0"/>
              <a:t>WebAssembly</a:t>
            </a:r>
            <a:r>
              <a:rPr lang="es-MX" b="1" dirty="0" smtClean="0"/>
              <a:t> </a:t>
            </a:r>
            <a:r>
              <a:rPr lang="es-MX" dirty="0" smtClean="0"/>
              <a:t>no necesita una conexión constante con el servidor después de que se haya cargado, lo que permite que la aplicación funcione sin conexión (offline) y reduzca la carga en el servidor.</a:t>
            </a:r>
          </a:p>
          <a:p>
            <a:pPr algn="just"/>
            <a:r>
              <a:rPr lang="es-MX" b="1" dirty="0" smtClean="0"/>
              <a:t>Dependencia de recursos del cliente</a:t>
            </a:r>
            <a:r>
              <a:rPr lang="es-MX" dirty="0" smtClean="0"/>
              <a:t>: Como se ejecuta en el navegador, el rendimiento de la aplicación depende en gran medida de los recursos del dispositivo del usuario, como CPU y memoria.</a:t>
            </a:r>
          </a:p>
          <a:p>
            <a:pPr marL="0" indent="0">
              <a:buNone/>
            </a:pPr>
            <a:r>
              <a:rPr lang="es-MX" b="1" dirty="0" smtClean="0"/>
              <a:t>Ejemplo de cuándo usar </a:t>
            </a:r>
            <a:r>
              <a:rPr lang="es-MX" b="1" dirty="0" err="1" smtClean="0"/>
              <a:t>Blazor</a:t>
            </a:r>
            <a:r>
              <a:rPr lang="es-MX" b="1" dirty="0" smtClean="0"/>
              <a:t> </a:t>
            </a:r>
            <a:r>
              <a:rPr lang="es-MX" b="1" dirty="0" err="1" smtClean="0"/>
              <a:t>WebAssembly</a:t>
            </a:r>
            <a:endParaRPr lang="es-MX" b="1" dirty="0" smtClean="0"/>
          </a:p>
          <a:p>
            <a:r>
              <a:rPr lang="es-MX" dirty="0" smtClean="0"/>
              <a:t>Aplicaciones con muchas interacciones en la interfaz de usuario que no necesitan actualizaciones constantes del servidor.</a:t>
            </a:r>
          </a:p>
          <a:p>
            <a:r>
              <a:rPr lang="es-MX" dirty="0" smtClean="0"/>
              <a:t>Aplicaciones que deben funcionar sin conexión o en entornos con conectividad limitada.</a:t>
            </a:r>
          </a:p>
          <a:p>
            <a:pPr algn="just"/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738946"/>
            <a:ext cx="10515600" cy="5383558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3800" dirty="0" smtClean="0"/>
              <a:t>2. </a:t>
            </a:r>
            <a:r>
              <a:rPr lang="en-US" sz="3800" b="1" dirty="0" err="1" smtClean="0"/>
              <a:t>Blazor</a:t>
            </a:r>
            <a:r>
              <a:rPr lang="en-US" sz="3800" b="1" dirty="0" smtClean="0"/>
              <a:t> Server</a:t>
            </a:r>
          </a:p>
          <a:p>
            <a:pPr marL="0" indent="0" algn="just">
              <a:buNone/>
            </a:pPr>
            <a:endParaRPr lang="es-MX" sz="3800" dirty="0" smtClean="0"/>
          </a:p>
          <a:p>
            <a:pPr algn="just"/>
            <a:r>
              <a:rPr lang="es-MX" sz="3800" dirty="0" smtClean="0"/>
              <a:t>En </a:t>
            </a:r>
            <a:r>
              <a:rPr lang="es-MX" sz="3800" b="1" dirty="0" err="1" smtClean="0"/>
              <a:t>Blazor</a:t>
            </a:r>
            <a:r>
              <a:rPr lang="es-MX" sz="3800" b="1" dirty="0" smtClean="0"/>
              <a:t> Server</a:t>
            </a:r>
            <a:r>
              <a:rPr lang="es-MX" sz="3800" dirty="0" smtClean="0"/>
              <a:t>, la aplicación se ejecuta en el servidor, y </a:t>
            </a:r>
            <a:r>
              <a:rPr lang="es-MX" sz="3800" dirty="0" err="1" smtClean="0"/>
              <a:t>Blazor</a:t>
            </a:r>
            <a:r>
              <a:rPr lang="es-MX" sz="3800" dirty="0" smtClean="0"/>
              <a:t> utiliza </a:t>
            </a:r>
            <a:r>
              <a:rPr lang="es-MX" sz="3800" b="1" dirty="0" err="1" smtClean="0"/>
              <a:t>SignalR</a:t>
            </a:r>
            <a:r>
              <a:rPr lang="es-MX" sz="3800" dirty="0" smtClean="0"/>
              <a:t> para enviar y recibir datos entre el cliente y el servidor. Funciona de la siguiente manera:</a:t>
            </a:r>
          </a:p>
          <a:p>
            <a:pPr algn="just"/>
            <a:r>
              <a:rPr lang="es-MX" sz="3800" b="1" dirty="0" smtClean="0"/>
              <a:t>Ejecución en el servidor</a:t>
            </a:r>
            <a:r>
              <a:rPr lang="es-MX" sz="3800" dirty="0" smtClean="0"/>
              <a:t>: Toda la lógica de la aplicación se ejecuta en el servidor y no en el navegador. Cada usuario mantiene una conexión activa con el servidor.</a:t>
            </a:r>
          </a:p>
          <a:p>
            <a:pPr algn="just"/>
            <a:r>
              <a:rPr lang="es-MX" sz="3800" b="1" dirty="0" smtClean="0"/>
              <a:t>Actualización de interfaz en tiempo real</a:t>
            </a:r>
            <a:r>
              <a:rPr lang="es-MX" sz="3800" dirty="0" smtClean="0"/>
              <a:t>: Cada vez que un usuario interactúa con la aplicación, los eventos (como clics y cambios de datos) se envían al servidor, donde el estado del componente se actualiza. Luego, el servidor envía las actualizaciones de la interfaz al cliente.</a:t>
            </a:r>
          </a:p>
          <a:p>
            <a:pPr algn="just"/>
            <a:r>
              <a:rPr lang="es-MX" sz="3800" b="1" dirty="0" smtClean="0"/>
              <a:t>Menor carga inicial</a:t>
            </a:r>
            <a:r>
              <a:rPr lang="es-MX" sz="3800" dirty="0" smtClean="0"/>
              <a:t>: A diferencia de </a:t>
            </a:r>
            <a:r>
              <a:rPr lang="es-MX" sz="3800" dirty="0" err="1" smtClean="0"/>
              <a:t>Blazor</a:t>
            </a:r>
            <a:r>
              <a:rPr lang="es-MX" sz="3800" dirty="0" smtClean="0"/>
              <a:t> </a:t>
            </a:r>
            <a:r>
              <a:rPr lang="es-MX" sz="3800" dirty="0" err="1" smtClean="0"/>
              <a:t>WebAssembly</a:t>
            </a:r>
            <a:r>
              <a:rPr lang="es-MX" sz="3800" dirty="0" smtClean="0"/>
              <a:t>, </a:t>
            </a:r>
            <a:r>
              <a:rPr lang="es-MX" sz="3800" dirty="0" err="1" smtClean="0"/>
              <a:t>Blazor</a:t>
            </a:r>
            <a:r>
              <a:rPr lang="es-MX" sz="3800" dirty="0" smtClean="0"/>
              <a:t> Server no necesita descargar todo el código y las bibliotecas .NET al navegador, lo que permite tiempos de carga iniciales mucho más rápidos.</a:t>
            </a:r>
          </a:p>
          <a:p>
            <a:pPr marL="0" indent="0" algn="just">
              <a:buNone/>
            </a:pPr>
            <a:r>
              <a:rPr lang="es-MX" sz="3800" b="1" dirty="0" smtClean="0"/>
              <a:t>Ejemplo de cuándo usar </a:t>
            </a:r>
            <a:r>
              <a:rPr lang="es-MX" sz="3800" b="1" dirty="0" err="1" smtClean="0"/>
              <a:t>Blazor</a:t>
            </a:r>
            <a:r>
              <a:rPr lang="es-MX" sz="3800" b="1" dirty="0" smtClean="0"/>
              <a:t> Server</a:t>
            </a:r>
          </a:p>
          <a:p>
            <a:pPr algn="just"/>
            <a:r>
              <a:rPr lang="es-MX" sz="3800" dirty="0" smtClean="0"/>
              <a:t>Aplicaciones que requieren acceso rápido al servidor o bases de datos, como </a:t>
            </a:r>
            <a:r>
              <a:rPr lang="es-MX" sz="3800" dirty="0" err="1" smtClean="0"/>
              <a:t>dashboards</a:t>
            </a:r>
            <a:r>
              <a:rPr lang="es-MX" sz="3800" dirty="0" smtClean="0"/>
              <a:t> o aplicaciones internas.</a:t>
            </a:r>
          </a:p>
          <a:p>
            <a:pPr algn="just"/>
            <a:r>
              <a:rPr lang="es-MX" sz="3800" dirty="0" smtClean="0"/>
              <a:t>Aplicaciones con requisitos de seguridad que necesitan mantener la lógica y los datos en el servidor en lugar de descargarlos al navegador.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41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smtClean="0"/>
              <a:t>Comparación entre </a:t>
            </a:r>
            <a:r>
              <a:rPr lang="es-MX" sz="3600" dirty="0" err="1" smtClean="0"/>
              <a:t>Blazor</a:t>
            </a:r>
            <a:r>
              <a:rPr lang="es-MX" sz="3600" dirty="0" smtClean="0"/>
              <a:t> </a:t>
            </a:r>
            <a:r>
              <a:rPr lang="es-MX" sz="3600" dirty="0" err="1" smtClean="0"/>
              <a:t>WebAssembly</a:t>
            </a:r>
            <a:r>
              <a:rPr lang="es-MX" sz="3600" dirty="0" smtClean="0"/>
              <a:t> y </a:t>
            </a:r>
            <a:r>
              <a:rPr lang="es-MX" sz="3600" dirty="0" err="1" smtClean="0"/>
              <a:t>Blazor</a:t>
            </a:r>
            <a:r>
              <a:rPr lang="es-MX" sz="3600" dirty="0" smtClean="0"/>
              <a:t> Server</a:t>
            </a:r>
            <a:endParaRPr lang="en-US" sz="36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224" y="2001316"/>
            <a:ext cx="9535024" cy="315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5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Conclusion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 err="1" smtClean="0"/>
              <a:t>Blazor</a:t>
            </a:r>
            <a:r>
              <a:rPr lang="es-MX" dirty="0" smtClean="0"/>
              <a:t> es una herramienta poderosa que permite a los desarrolladores .</a:t>
            </a:r>
            <a:r>
              <a:rPr lang="es-MX" b="1" dirty="0" smtClean="0"/>
              <a:t>NET</a:t>
            </a:r>
            <a:r>
              <a:rPr lang="es-MX" dirty="0" smtClean="0"/>
              <a:t> crear aplicaciones web modernas usando C#. </a:t>
            </a:r>
          </a:p>
          <a:p>
            <a:pPr algn="just"/>
            <a:r>
              <a:rPr lang="es-MX" dirty="0" smtClean="0"/>
              <a:t>Elegir entre </a:t>
            </a:r>
            <a:r>
              <a:rPr lang="es-MX" b="1" dirty="0" err="1" smtClean="0"/>
              <a:t>Blazor</a:t>
            </a:r>
            <a:r>
              <a:rPr lang="es-MX" b="1" dirty="0" smtClean="0"/>
              <a:t> </a:t>
            </a:r>
            <a:r>
              <a:rPr lang="es-MX" b="1" dirty="0" err="1" smtClean="0"/>
              <a:t>WebAssembly</a:t>
            </a:r>
            <a:r>
              <a:rPr lang="es-MX" b="1" dirty="0" smtClean="0"/>
              <a:t> y </a:t>
            </a:r>
            <a:r>
              <a:rPr lang="es-MX" b="1" dirty="0" err="1" smtClean="0"/>
              <a:t>Blazor</a:t>
            </a:r>
            <a:r>
              <a:rPr lang="es-MX" b="1" dirty="0" smtClean="0"/>
              <a:t> Server </a:t>
            </a:r>
            <a:r>
              <a:rPr lang="es-MX" dirty="0" smtClean="0"/>
              <a:t>dependerá de los requisitos específicos de la aplicación, como la necesidad de trabajar offline, el rendimiento y la seguridad. En ambos casos, </a:t>
            </a:r>
            <a:r>
              <a:rPr lang="es-MX" dirty="0" err="1" smtClean="0"/>
              <a:t>Blazor</a:t>
            </a:r>
            <a:r>
              <a:rPr lang="es-MX" dirty="0" smtClean="0"/>
              <a:t> permite una experiencia de desarrollo coherente con el ecosistema de .NET y reduce la necesidad de escribir y gestionar JavaScript en aplicaciones web interactivas.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0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Hubs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MX" dirty="0" smtClean="0"/>
              <a:t>En </a:t>
            </a:r>
            <a:r>
              <a:rPr lang="es-MX" b="1" dirty="0" err="1" smtClean="0"/>
              <a:t>SignalR</a:t>
            </a:r>
            <a:r>
              <a:rPr lang="es-MX" dirty="0" smtClean="0"/>
              <a:t>, los </a:t>
            </a:r>
            <a:r>
              <a:rPr lang="es-MX" b="1" dirty="0" err="1" smtClean="0"/>
              <a:t>hubs</a:t>
            </a:r>
            <a:r>
              <a:rPr lang="es-MX" dirty="0" smtClean="0"/>
              <a:t> son un componente central que permite la comunicación en tiempo real entre el servidor y los clientes. Los </a:t>
            </a:r>
            <a:r>
              <a:rPr lang="es-MX" dirty="0" err="1" smtClean="0"/>
              <a:t>hubs</a:t>
            </a:r>
            <a:r>
              <a:rPr lang="es-MX" dirty="0" smtClean="0"/>
              <a:t> actúan como un </a:t>
            </a:r>
            <a:r>
              <a:rPr lang="es-MX" b="1" dirty="0" smtClean="0"/>
              <a:t>punto de conexión</a:t>
            </a:r>
            <a:r>
              <a:rPr lang="es-MX" dirty="0" smtClean="0"/>
              <a:t> para que los clientes puedan comunicarse con el servidor y viceversa, gestionando las interacciones en aplicaciones en tiempo real, como chats, notificaciones, actualizaciones de datos en vivo y colaboraciones en aplicaciones.</a:t>
            </a:r>
          </a:p>
          <a:p>
            <a:pPr marL="0" indent="0" algn="just">
              <a:buNone/>
            </a:pPr>
            <a:r>
              <a:rPr lang="es-MX" b="1" dirty="0" smtClean="0"/>
              <a:t>¿Qué es un </a:t>
            </a:r>
            <a:r>
              <a:rPr lang="es-MX" b="1" dirty="0" err="1" smtClean="0"/>
              <a:t>Hub</a:t>
            </a:r>
            <a:r>
              <a:rPr lang="es-MX" b="1" dirty="0" smtClean="0"/>
              <a:t> en </a:t>
            </a:r>
            <a:r>
              <a:rPr lang="es-MX" b="1" dirty="0" err="1" smtClean="0"/>
              <a:t>SignalR</a:t>
            </a:r>
            <a:r>
              <a:rPr lang="es-MX" b="1" dirty="0" smtClean="0"/>
              <a:t>?</a:t>
            </a:r>
          </a:p>
          <a:p>
            <a:pPr algn="just"/>
            <a:r>
              <a:rPr lang="es-MX" dirty="0" smtClean="0"/>
              <a:t>Un </a:t>
            </a:r>
            <a:r>
              <a:rPr lang="es-MX" b="1" dirty="0" err="1" smtClean="0"/>
              <a:t>hub</a:t>
            </a:r>
            <a:r>
              <a:rPr lang="es-MX" dirty="0" smtClean="0"/>
              <a:t> en </a:t>
            </a:r>
            <a:r>
              <a:rPr lang="es-MX" dirty="0" err="1" smtClean="0"/>
              <a:t>SignalR</a:t>
            </a:r>
            <a:r>
              <a:rPr lang="es-MX" dirty="0" smtClean="0"/>
              <a:t> es una clase en el servidor que contiene métodos que los clientes pueden llamar y viceversa. Es la interfaz que abstrae los detalles de la comunicación y permite invocar métodos en los clientes conectados, sin necesidad de una comunicación continua y directa a través de solicitudes HTTP tradicionales.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4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527"/>
          </a:xfrm>
        </p:spPr>
        <p:txBody>
          <a:bodyPr>
            <a:normAutofit/>
          </a:bodyPr>
          <a:lstStyle/>
          <a:p>
            <a:r>
              <a:rPr lang="es-MX" sz="3200" b="1" dirty="0" smtClean="0"/>
              <a:t>Funcionamiento de los </a:t>
            </a:r>
            <a:r>
              <a:rPr lang="es-MX" sz="3200" b="1" dirty="0" err="1" smtClean="0"/>
              <a:t>Hubs</a:t>
            </a:r>
            <a:r>
              <a:rPr lang="es-MX" sz="3200" b="1" dirty="0" smtClean="0"/>
              <a:t> en </a:t>
            </a:r>
            <a:r>
              <a:rPr lang="es-MX" sz="3200" b="1" dirty="0" err="1" smtClean="0"/>
              <a:t>SignalR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15878"/>
            <a:ext cx="105156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definidos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hub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hub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puedan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llamarlos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directamente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acciones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específicas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dentro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un hub para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solicitudes.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Invocación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también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llamar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específicos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específico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usando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conexiones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abiertas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hubs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chat,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agruparse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Así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se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específico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optimizando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tráfico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tecnologías 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función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lo que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esté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disponible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sea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compatible),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Server-Sent Events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Polling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respaldo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comunicación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través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hub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asincrónica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lo que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cantidad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conexiones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bloquear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1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471964"/>
            <a:ext cx="10421203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Ejemplos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Hubs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enviado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vivo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Los hubs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transmitir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sobre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Colaboración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editores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colaborativos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hubs para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Resumen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hubs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hub,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desarrolladores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a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subconjunto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infraestructura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altamente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asincrónica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675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Introducción a </a:t>
            </a:r>
            <a:r>
              <a:rPr lang="es-MX" b="1" dirty="0" err="1"/>
              <a:t>Blazor</a:t>
            </a:r>
            <a:r>
              <a:rPr lang="es-MX" b="1" dirty="0"/>
              <a:t> Web App y </a:t>
            </a:r>
            <a:r>
              <a:rPr lang="es-MX" b="1" dirty="0" err="1" smtClean="0"/>
              <a:t>SignalR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 err="1" smtClean="0"/>
              <a:t>Blazor</a:t>
            </a:r>
            <a:r>
              <a:rPr lang="es-MX" dirty="0" smtClean="0"/>
              <a:t> </a:t>
            </a:r>
            <a:r>
              <a:rPr lang="es-MX" dirty="0"/>
              <a:t>es un </a:t>
            </a:r>
            <a:r>
              <a:rPr lang="es-MX" dirty="0" err="1"/>
              <a:t>framework</a:t>
            </a:r>
            <a:r>
              <a:rPr lang="es-MX" dirty="0"/>
              <a:t> de .NET que permite construir aplicaciones web interactivas utilizando </a:t>
            </a:r>
            <a:r>
              <a:rPr lang="es-MX" b="1" dirty="0"/>
              <a:t>C# y </a:t>
            </a:r>
            <a:r>
              <a:rPr lang="es-MX" b="1" dirty="0" err="1"/>
              <a:t>Razor</a:t>
            </a:r>
            <a:r>
              <a:rPr lang="es-MX" dirty="0"/>
              <a:t> en lugar de JavaScript. </a:t>
            </a:r>
            <a:r>
              <a:rPr lang="es-MX" b="1" dirty="0" err="1"/>
              <a:t>Blazor</a:t>
            </a:r>
            <a:r>
              <a:rPr lang="es-MX" b="1" dirty="0"/>
              <a:t> Web App</a:t>
            </a:r>
            <a:r>
              <a:rPr lang="es-MX" dirty="0"/>
              <a:t> es una plantilla que se introdujo en .NET 8, la cual combina las ventajas de los dos modelos de </a:t>
            </a:r>
            <a:r>
              <a:rPr lang="es-MX" dirty="0" err="1"/>
              <a:t>Blazor</a:t>
            </a:r>
            <a:r>
              <a:rPr lang="es-MX" dirty="0"/>
              <a:t>: </a:t>
            </a:r>
            <a:r>
              <a:rPr lang="es-MX" b="1" dirty="0" err="1"/>
              <a:t>WebAssembly</a:t>
            </a:r>
            <a:r>
              <a:rPr lang="es-MX" dirty="0"/>
              <a:t> y </a:t>
            </a:r>
            <a:r>
              <a:rPr lang="es-MX" b="1" dirty="0"/>
              <a:t>Server</a:t>
            </a:r>
            <a:r>
              <a:rPr lang="es-MX" dirty="0"/>
              <a:t>.</a:t>
            </a:r>
          </a:p>
          <a:p>
            <a:r>
              <a:rPr lang="es-MX" b="1" dirty="0" err="1"/>
              <a:t>Blazor</a:t>
            </a:r>
            <a:r>
              <a:rPr lang="es-MX" b="1" dirty="0"/>
              <a:t> </a:t>
            </a:r>
            <a:r>
              <a:rPr lang="es-MX" b="1" dirty="0" err="1"/>
              <a:t>WebAssembly</a:t>
            </a:r>
            <a:r>
              <a:rPr lang="es-MX" dirty="0"/>
              <a:t> permite ejecutar la aplicación en el cliente (navegador), lo que significa que el código .NET se descarga y ejecuta directamente en el navegador del usuario.</a:t>
            </a:r>
          </a:p>
          <a:p>
            <a:r>
              <a:rPr lang="es-MX" b="1" dirty="0" err="1"/>
              <a:t>Blazor</a:t>
            </a:r>
            <a:r>
              <a:rPr lang="es-MX" b="1" dirty="0"/>
              <a:t> Server</a:t>
            </a:r>
            <a:r>
              <a:rPr lang="es-MX" dirty="0"/>
              <a:t> ejecuta la lógica en el servidor y utiliza </a:t>
            </a:r>
            <a:r>
              <a:rPr lang="es-MX" b="1" dirty="0" err="1"/>
              <a:t>SignalR</a:t>
            </a:r>
            <a:r>
              <a:rPr lang="es-MX" dirty="0"/>
              <a:t> para enviar actualizaciones de la interfaz de usuario al cliente en tiempo real, permitiendo una conexión constante entre cliente y servidor.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</a:t>
            </a:r>
            <a:r>
              <a:rPr lang="es-MX" dirty="0" err="1"/>
              <a:t>SignalR</a:t>
            </a:r>
            <a:r>
              <a:rPr lang="es-MX" dirty="0"/>
              <a:t> y cómo se integra?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MX" b="1" dirty="0" err="1"/>
              <a:t>SignalR</a:t>
            </a:r>
            <a:r>
              <a:rPr lang="es-MX" dirty="0"/>
              <a:t> es una biblioteca de .NET que permite agregar </a:t>
            </a:r>
            <a:r>
              <a:rPr lang="es-MX" b="1" dirty="0"/>
              <a:t>comunicación en tiempo real</a:t>
            </a:r>
            <a:r>
              <a:rPr lang="es-MX" dirty="0"/>
              <a:t> a nuestras aplicaciones. Con </a:t>
            </a:r>
            <a:r>
              <a:rPr lang="es-MX" b="1" dirty="0" err="1"/>
              <a:t>SignalR</a:t>
            </a:r>
            <a:r>
              <a:rPr lang="es-MX" dirty="0"/>
              <a:t>, podemos enviar actualizaciones instantáneas a todos los clientes conectados o a un subconjunto específico de clientes sin tener que actualizar manualmente la página.</a:t>
            </a:r>
          </a:p>
          <a:p>
            <a:pPr algn="just"/>
            <a:r>
              <a:rPr lang="es-MX" dirty="0"/>
              <a:t>Cuando integras </a:t>
            </a:r>
            <a:r>
              <a:rPr lang="es-MX" b="1" dirty="0" err="1"/>
              <a:t>Blazor</a:t>
            </a:r>
            <a:r>
              <a:rPr lang="es-MX" b="1" dirty="0"/>
              <a:t> Web App con </a:t>
            </a:r>
            <a:r>
              <a:rPr lang="es-MX" b="1" dirty="0" err="1"/>
              <a:t>SignalR</a:t>
            </a:r>
            <a:r>
              <a:rPr lang="es-MX" dirty="0"/>
              <a:t>, puedes crear aplicaciones donde las interacciones de los usuarios y las actualizaciones del servidor se reflejan en tiempo real en la interfaz, lo cual es ideal para:</a:t>
            </a:r>
          </a:p>
          <a:p>
            <a:pPr lvl="1" algn="just"/>
            <a:r>
              <a:rPr lang="es-MX" dirty="0"/>
              <a:t>Chats en vivo</a:t>
            </a:r>
          </a:p>
          <a:p>
            <a:pPr lvl="1" algn="just"/>
            <a:r>
              <a:rPr lang="es-MX" dirty="0"/>
              <a:t>Notificaciones automáticas</a:t>
            </a:r>
          </a:p>
          <a:p>
            <a:pPr lvl="1" algn="just"/>
            <a:r>
              <a:rPr lang="es-MX" dirty="0"/>
              <a:t>Sincronización de datos en aplicaciones colaborativas, como documentos compartidos o tableros de control</a:t>
            </a:r>
            <a:r>
              <a:rPr lang="es-MX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2202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1502</Words>
  <Application>Microsoft Office PowerPoint</Application>
  <PresentationFormat>Panorámica</PresentationFormat>
  <Paragraphs>78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Tema de Office</vt:lpstr>
      <vt:lpstr>BLAZOR</vt:lpstr>
      <vt:lpstr>BLAZOR</vt:lpstr>
      <vt:lpstr>¿Cómo funciona Blazor?</vt:lpstr>
      <vt:lpstr>¿Cómo se estructura un componente en Blazor? En Blazor, un componente es una unidad reutilizable de UI que puede contener HTML, C# y Razor. Los componentes en Blazor son similares a los componentes en React, Angular o Vue, y se representan como archivos .razor. </vt:lpstr>
      <vt:lpstr>Tipos de aplicaciones Blazor</vt:lpstr>
      <vt:lpstr>Presentación de PowerPoint</vt:lpstr>
      <vt:lpstr>Comparación entre Blazor WebAssembly y Blazor Server</vt:lpstr>
      <vt:lpstr>Conclusion</vt:lpstr>
      <vt:lpstr>Hubs</vt:lpstr>
      <vt:lpstr>Funcionamiento de los Hubs en SignalR</vt:lpstr>
      <vt:lpstr>Presentación de PowerPoint</vt:lpstr>
      <vt:lpstr>Introducción a Blazor Web App y SignalR</vt:lpstr>
      <vt:lpstr>¿Qué es SignalR y cómo se integra?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BLAZOR</dc:title>
  <dc:creator>gabriel</dc:creator>
  <cp:lastModifiedBy>gabriel</cp:lastModifiedBy>
  <cp:revision>12</cp:revision>
  <dcterms:created xsi:type="dcterms:W3CDTF">2024-11-12T20:56:49Z</dcterms:created>
  <dcterms:modified xsi:type="dcterms:W3CDTF">2025-03-29T05:09:48Z</dcterms:modified>
</cp:coreProperties>
</file>